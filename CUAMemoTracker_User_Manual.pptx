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70" r:id="rId19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4AF37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270" y="273685"/>
            <a:ext cx="1241425" cy="1241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750695" y="593090"/>
            <a:ext cx="70434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COSMOPOLITAN UNIVERSITY ABUJA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901315" y="1075690"/>
            <a:ext cx="334137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OFFICIAL SYSTEMS OPERATIONAL MANUAL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993775" y="2494280"/>
            <a:ext cx="2926080" cy="365760"/>
          </a:xfrm>
          <a:prstGeom prst="rect">
            <a:avLst/>
          </a:prstGeom>
          <a:solidFill>
            <a:srgbClr val="1E293B"/>
          </a:solidFill>
          <a:ln w="19050">
            <a:solidFill>
              <a:srgbClr val="D4AF3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49428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MANUAL • VERSION 2.0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993775" y="2995295"/>
            <a:ext cx="8061960" cy="12801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MEMOTRACKER SYSTEM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PRESENTATION MANUAL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99135" y="4409440"/>
            <a:ext cx="844486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step-by-step visual presentation guide for memo creation, multi-tier budget requisitions, executive approval routing, and audit tracking.</a:t>
            </a:r>
            <a:endParaRPr lang="en-US" sz="1000" dirty="0">
              <a:solidFill>
                <a:srgbClr val="CBD5E1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OVERVIEW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878070" y="228600"/>
            <a:ext cx="419989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SYSTEM OVERVIEW &amp; WORKFLOW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Institutional Workflow Lifecycle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The CUA MemoTracker System automates formal internal communications, institutional approvals, and multi-tier budget requisitions.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103120"/>
            <a:ext cx="1965960" cy="2494915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3" name="Text 10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52145" y="2944495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Compose Memo</a:t>
            </a:r>
            <a:endParaRPr lang="en-US" sz="12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5320" y="3094355"/>
            <a:ext cx="1660525" cy="14960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 enters memo title, routing recipients (To, CC, BCC), rich body text, and attachments.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674620" y="2103120"/>
            <a:ext cx="1965960" cy="249555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88920" y="2377440"/>
            <a:ext cx="4572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8" name="Text 15"/>
          <p:cNvSpPr/>
          <p:nvPr/>
        </p:nvSpPr>
        <p:spPr>
          <a:xfrm>
            <a:off x="2788920" y="23774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689860" y="2944495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Attach Requisition</a:t>
            </a:r>
            <a:endParaRPr lang="en-US" sz="12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2788920" y="3017520"/>
            <a:ext cx="1703070" cy="16097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If requesting funds, author enables 3-tier budget breakdown (Category → Group → Sub-Item).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846320" y="2103120"/>
            <a:ext cx="1977390" cy="248031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99355" y="2377440"/>
            <a:ext cx="457200" cy="457200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23" name="Text 20"/>
          <p:cNvSpPr/>
          <p:nvPr/>
        </p:nvSpPr>
        <p:spPr>
          <a:xfrm>
            <a:off x="4999355" y="23774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84420" y="2944495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Route for Approval</a:t>
            </a:r>
            <a:endParaRPr lang="en-US" sz="12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898390" y="3014980"/>
            <a:ext cx="1795145" cy="16059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Author locks document and dispatches it into sequential review for HODs, Deans, and Finance.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974205" y="2103120"/>
            <a:ext cx="1972945" cy="2479675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30415" y="2377440"/>
            <a:ext cx="457200" cy="457200"/>
          </a:xfrm>
          <a:prstGeom prst="rect">
            <a:avLst/>
          </a:prstGeom>
          <a:solidFill>
            <a:srgbClr val="059669"/>
          </a:solidFill>
        </p:spPr>
      </p:sp>
      <p:sp>
        <p:nvSpPr>
          <p:cNvPr id="28" name="Text 25"/>
          <p:cNvSpPr/>
          <p:nvPr/>
        </p:nvSpPr>
        <p:spPr>
          <a:xfrm>
            <a:off x="7130415" y="237744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40880" y="2910840"/>
            <a:ext cx="2194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Executive Action</a:t>
            </a:r>
            <a:endParaRPr lang="en-US" sz="12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030085" y="2959735"/>
            <a:ext cx="1749425" cy="16548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00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Reviewing officers endorse, request amendments, or approve. Audit history records every step.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1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202555" y="233045"/>
            <a:ext cx="375031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1: PLATFORM ACCESS &amp; LOGIN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125210" cy="3656965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097280"/>
            <a:ext cx="2218690" cy="398716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1820" y="1341755"/>
            <a:ext cx="271145" cy="294005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6" name="Text 13"/>
          <p:cNvSpPr/>
          <p:nvPr/>
        </p:nvSpPr>
        <p:spPr>
          <a:xfrm>
            <a:off x="6934200" y="1342390"/>
            <a:ext cx="267335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</a:t>
            </a:r>
            <a:endParaRPr lang="en-US" sz="1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7560" y="1310640"/>
            <a:ext cx="19431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Authentication &amp; Role Access</a:t>
            </a:r>
            <a:endParaRPr lang="en-US" sz="10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1880870" cy="444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11680"/>
            <a:ext cx="20300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1. Access Credentials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286000"/>
            <a:ext cx="186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Enter your official University staff email address and security password on the login portal.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3017520"/>
            <a:ext cx="18129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Role Authorization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451860"/>
            <a:ext cx="178943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Permissions (HOD, Dean, Director of Finance, Vice-Chancellor) are automatically assigned based on your account.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65620" y="4259580"/>
            <a:ext cx="2205355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4366260"/>
            <a:ext cx="2158365" cy="3987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26580" y="4511040"/>
            <a:ext cx="236093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Always ensure you log out when using shared workstations to preserve privacy.</a:t>
            </a:r>
            <a:endParaRPr lang="en-US" sz="850" dirty="0"/>
          </a:p>
        </p:txBody>
      </p:sp>
      <p:pic>
        <p:nvPicPr>
          <p:cNvPr id="26" name="Picture 25" descr="Screenshot 2026-09-03 152558"/>
          <p:cNvPicPr>
            <a:picLocks noChangeAspect="1"/>
          </p:cNvPicPr>
          <p:nvPr/>
        </p:nvPicPr>
        <p:blipFill>
          <a:blip r:embed="rId2"/>
          <a:srcRect l="1604" t="4115" r="2989" b="5183"/>
          <a:stretch>
            <a:fillRect/>
          </a:stretch>
        </p:blipFill>
        <p:spPr>
          <a:xfrm>
            <a:off x="450215" y="1099820"/>
            <a:ext cx="6132195" cy="36544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2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202555" y="233045"/>
            <a:ext cx="375031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STEP 2: DASHBOARD NAVIGATION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125210" cy="3656965"/>
          </a:xfrm>
          <a:prstGeom prst="rect">
            <a:avLst/>
          </a:prstGeom>
          <a:solidFill>
            <a:srgbClr val="F8FAFC"/>
          </a:solidFill>
          <a:ln w="28575">
            <a:solidFill>
              <a:srgbClr val="1A365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072515"/>
            <a:ext cx="2218690" cy="398716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941820" y="1341755"/>
            <a:ext cx="271145" cy="294005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6" name="Text 13"/>
          <p:cNvSpPr/>
          <p:nvPr/>
        </p:nvSpPr>
        <p:spPr>
          <a:xfrm>
            <a:off x="6934200" y="1342390"/>
            <a:ext cx="267335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</a:t>
            </a:r>
            <a:endParaRPr lang="en-US" sz="1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7560" y="1310640"/>
            <a:ext cx="1960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Workspace Folders &amp; Navigation</a:t>
            </a:r>
            <a:endParaRPr lang="en-US" sz="10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1880870" cy="444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1950720"/>
            <a:ext cx="20675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1. Action Needed / Inbox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186940"/>
            <a:ext cx="186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Displays incoming memos routed to your desk for review, endorsement, or approval.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735580"/>
            <a:ext cx="203073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2. Role Authorization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2956560"/>
            <a:ext cx="178943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Contains memos initiated by you that are active in recipient approval pipelines.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65620" y="4259580"/>
            <a:ext cx="2205355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4366260"/>
            <a:ext cx="2157730" cy="2019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26580" y="4511040"/>
            <a:ext cx="215011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Click the badge numbers next to Inbox to see urgent items requiring your review.</a:t>
            </a:r>
            <a:endParaRPr lang="en-US" sz="850" dirty="0"/>
          </a:p>
        </p:txBody>
      </p:sp>
      <p:sp>
        <p:nvSpPr>
          <p:cNvPr id="12" name="Text 18"/>
          <p:cNvSpPr/>
          <p:nvPr/>
        </p:nvSpPr>
        <p:spPr>
          <a:xfrm>
            <a:off x="7033260" y="3444240"/>
            <a:ext cx="20377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3. Drafts Folder</a:t>
            </a:r>
            <a:endParaRPr lang="en-US" sz="1100" dirty="0"/>
          </a:p>
        </p:txBody>
      </p:sp>
      <p:sp>
        <p:nvSpPr>
          <p:cNvPr id="13" name="Text 19"/>
          <p:cNvSpPr/>
          <p:nvPr/>
        </p:nvSpPr>
        <p:spPr>
          <a:xfrm>
            <a:off x="7033260" y="3663950"/>
            <a:ext cx="178943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Stores unsubmitted memos saved for future editing before routing.</a:t>
            </a:r>
            <a:endParaRPr lang="en-US" sz="950" dirty="0"/>
          </a:p>
        </p:txBody>
      </p:sp>
      <p:pic>
        <p:nvPicPr>
          <p:cNvPr id="27" name="Picture 26" descr="Screenshot 2026-09-03 1533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" y="1096645"/>
            <a:ext cx="6119495" cy="36582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3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202555" y="233045"/>
            <a:ext cx="375031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STEP 3: INITIATING A NEW MEMO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125210" cy="3656965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097280"/>
            <a:ext cx="2218690" cy="398716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1820" y="1341755"/>
            <a:ext cx="271145" cy="294005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6" name="Text 13"/>
          <p:cNvSpPr/>
          <p:nvPr/>
        </p:nvSpPr>
        <p:spPr>
          <a:xfrm>
            <a:off x="6934200" y="1342390"/>
            <a:ext cx="267335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</a:t>
            </a:r>
            <a:endParaRPr lang="en-US" sz="1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7560" y="1310640"/>
            <a:ext cx="199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Subject Title &amp; Department Selection</a:t>
            </a:r>
            <a:endParaRPr lang="en-US" sz="10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1880870" cy="444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1950720"/>
            <a:ext cx="202374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1. + New Memo Button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186940"/>
            <a:ext cx="186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Click the "+ New Memo" button on the sidebar to launch the compose editor.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735580"/>
            <a:ext cx="203581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2. Subject Title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2956560"/>
            <a:ext cx="20294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Type a clear, uppercase subject line (e.g. REQUISITION FOR LAB EQUIPMENT).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65620" y="4259580"/>
            <a:ext cx="2205355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4371340"/>
            <a:ext cx="2170430" cy="177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26580" y="4511040"/>
            <a:ext cx="215011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Subject titles should be concise and clearly define the memo purpose for reviewing officers.</a:t>
            </a:r>
            <a:endParaRPr lang="en-US" sz="850" dirty="0"/>
          </a:p>
        </p:txBody>
      </p:sp>
      <p:sp>
        <p:nvSpPr>
          <p:cNvPr id="12" name="Text 18"/>
          <p:cNvSpPr/>
          <p:nvPr/>
        </p:nvSpPr>
        <p:spPr>
          <a:xfrm>
            <a:off x="7033260" y="3444240"/>
            <a:ext cx="208343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3. Department &amp; Category</a:t>
            </a:r>
            <a:endParaRPr lang="en-US" sz="1100" dirty="0"/>
          </a:p>
        </p:txBody>
      </p:sp>
      <p:sp>
        <p:nvSpPr>
          <p:cNvPr id="13" name="Text 19"/>
          <p:cNvSpPr/>
          <p:nvPr/>
        </p:nvSpPr>
        <p:spPr>
          <a:xfrm>
            <a:off x="7033260" y="3663950"/>
            <a:ext cx="207454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Select your originating department and academic/administrative category.</a:t>
            </a:r>
            <a:endParaRPr lang="en-US" sz="950" dirty="0"/>
          </a:p>
        </p:txBody>
      </p:sp>
      <p:pic>
        <p:nvPicPr>
          <p:cNvPr id="28" name="Picture 27" descr="Screenshot 2026-09-03 153907"/>
          <p:cNvPicPr>
            <a:picLocks noChangeAspect="1"/>
          </p:cNvPicPr>
          <p:nvPr/>
        </p:nvPicPr>
        <p:blipFill>
          <a:blip r:embed="rId2"/>
          <a:srcRect l="17904" r="15091" b="17699"/>
          <a:stretch>
            <a:fillRect/>
          </a:stretch>
        </p:blipFill>
        <p:spPr>
          <a:xfrm>
            <a:off x="457200" y="1097280"/>
            <a:ext cx="6126480" cy="36569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4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202555" y="233045"/>
            <a:ext cx="375031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STEP 4: PRIORITY &amp; EXPIRY DATES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125210" cy="3656965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097280"/>
            <a:ext cx="2218690" cy="398716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1820" y="1341755"/>
            <a:ext cx="271145" cy="294005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6" name="Text 13"/>
          <p:cNvSpPr/>
          <p:nvPr/>
        </p:nvSpPr>
        <p:spPr>
          <a:xfrm>
            <a:off x="6934200" y="1342390"/>
            <a:ext cx="267335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4</a:t>
            </a:r>
            <a:endParaRPr lang="en-US" sz="1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7560" y="1310640"/>
            <a:ext cx="199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Setting Urgency &amp; Expiration Flags</a:t>
            </a:r>
            <a:endParaRPr lang="en-US" sz="10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1880870" cy="444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141220"/>
            <a:ext cx="20650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1. Priority Levels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415540"/>
            <a:ext cx="186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Select priority level (Low, Medium, High, Urgent) to signal turnaround urgency.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79420"/>
            <a:ext cx="203517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2. Optional Expiry Date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76600"/>
            <a:ext cx="20294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Set an explicit expiry date for time-sensitive requests requiring fast action.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65620" y="4259580"/>
            <a:ext cx="2205355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4366260"/>
            <a:ext cx="2178050" cy="15049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26580" y="4511040"/>
            <a:ext cx="215011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High and Urgent memos display bright priority badges on reviewer dashboards.</a:t>
            </a:r>
            <a:endParaRPr lang="en-US" sz="850" dirty="0"/>
          </a:p>
        </p:txBody>
      </p:sp>
      <p:pic>
        <p:nvPicPr>
          <p:cNvPr id="28" name="Picture 27" descr="Screenshot 2026-09-03 154136"/>
          <p:cNvPicPr>
            <a:picLocks noChangeAspect="1"/>
          </p:cNvPicPr>
          <p:nvPr/>
        </p:nvPicPr>
        <p:blipFill>
          <a:blip r:embed="rId2"/>
          <a:srcRect l="35390" t="13333" r="11926" b="19790"/>
          <a:stretch>
            <a:fillRect/>
          </a:stretch>
        </p:blipFill>
        <p:spPr>
          <a:xfrm>
            <a:off x="473710" y="1096645"/>
            <a:ext cx="6096000" cy="36582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5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393055" y="233045"/>
            <a:ext cx="375031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STEP 5: RECIPIENT ROUTING SETUP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125210" cy="3656965"/>
          </a:xfrm>
          <a:prstGeom prst="rect">
            <a:avLst/>
          </a:prstGeom>
          <a:solidFill>
            <a:srgbClr val="F8FAFC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097280"/>
            <a:ext cx="2218690" cy="398716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1820" y="1341755"/>
            <a:ext cx="271145" cy="294005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6" name="Text 13"/>
          <p:cNvSpPr/>
          <p:nvPr/>
        </p:nvSpPr>
        <p:spPr>
          <a:xfrm>
            <a:off x="6934200" y="1342390"/>
            <a:ext cx="267335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5</a:t>
            </a:r>
            <a:endParaRPr lang="en-US" sz="1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7560" y="1310640"/>
            <a:ext cx="199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Configuring Approval Officers (To, CC, BCC)</a:t>
            </a:r>
            <a:endParaRPr lang="en-US" sz="10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1880870" cy="444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1912620"/>
            <a:ext cx="20288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1. TO (Primary Approvers)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148840"/>
            <a:ext cx="186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Select officers responsible for reviewing, endorsing, or approving the memo.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712720"/>
            <a:ext cx="21056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2. CC (Informational Copies)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2948940"/>
            <a:ext cx="20294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Add officers who must remain informed without requiring direct approval.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65620" y="4259580"/>
            <a:ext cx="2205355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4366260"/>
            <a:ext cx="2162810" cy="1638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26580" y="4511040"/>
            <a:ext cx="215011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Ensure primary approving officers (HOD/Dean) are selected under TO in correct order.</a:t>
            </a:r>
            <a:endParaRPr lang="en-US" sz="850" dirty="0"/>
          </a:p>
        </p:txBody>
      </p:sp>
      <p:sp>
        <p:nvSpPr>
          <p:cNvPr id="13" name="Text 18"/>
          <p:cNvSpPr/>
          <p:nvPr/>
        </p:nvSpPr>
        <p:spPr>
          <a:xfrm>
            <a:off x="7040880" y="3469005"/>
            <a:ext cx="20288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3. BCC (Confidential Copy)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7045960" y="3671570"/>
            <a:ext cx="20294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Add confidential oversight officers when necessary.</a:t>
            </a:r>
            <a:endParaRPr lang="en-US" sz="950" dirty="0"/>
          </a:p>
        </p:txBody>
      </p:sp>
      <p:pic>
        <p:nvPicPr>
          <p:cNvPr id="28" name="Picture 27" descr="Screenshot 2026-09-03 153907"/>
          <p:cNvPicPr>
            <a:picLocks noChangeAspect="1"/>
          </p:cNvPicPr>
          <p:nvPr/>
        </p:nvPicPr>
        <p:blipFill>
          <a:blip r:embed="rId2"/>
          <a:srcRect l="14577" t="2091" r="18432" b="16442"/>
          <a:stretch>
            <a:fillRect/>
          </a:stretch>
        </p:blipFill>
        <p:spPr>
          <a:xfrm>
            <a:off x="457200" y="1097280"/>
            <a:ext cx="612521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  <p:txBody>
          <a:bodyPr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6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393055" y="233045"/>
            <a:ext cx="375031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STEP 6: RICH TEXT &amp; ATTACHMENTS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125210" cy="3656965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097280"/>
            <a:ext cx="2218690" cy="398716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1820" y="1341755"/>
            <a:ext cx="271145" cy="294005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6" name="Text 13"/>
          <p:cNvSpPr/>
          <p:nvPr/>
        </p:nvSpPr>
        <p:spPr>
          <a:xfrm>
            <a:off x="6934200" y="1342390"/>
            <a:ext cx="267335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6</a:t>
            </a:r>
            <a:endParaRPr lang="en-US" sz="1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7560" y="1310640"/>
            <a:ext cx="199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Formatting Body Text &amp; Supporting Docs</a:t>
            </a:r>
            <a:endParaRPr lang="en-US" sz="10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1880870" cy="444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125980"/>
            <a:ext cx="203517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1. Rich Text Formatting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407920"/>
            <a:ext cx="186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Use bolding, bullet points, numbered lists, and headers to structure text.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3032760"/>
            <a:ext cx="203581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2. Supporting Attachments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345180"/>
            <a:ext cx="20294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Click "Attach" on the bottom toolbar to upload proforma invoices or PDF documents.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65620" y="4259580"/>
            <a:ext cx="2205355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4366260"/>
            <a:ext cx="1754505" cy="23304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26580" y="4511040"/>
            <a:ext cx="215011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Attach all external vendor quotes or proposals as supporting PDF files.</a:t>
            </a:r>
            <a:endParaRPr lang="en-US" sz="850" dirty="0"/>
          </a:p>
        </p:txBody>
      </p:sp>
      <p:pic>
        <p:nvPicPr>
          <p:cNvPr id="28" name="Picture 27" descr="Screenshot 2026-09-03 154613"/>
          <p:cNvPicPr>
            <a:picLocks noChangeAspect="1"/>
          </p:cNvPicPr>
          <p:nvPr/>
        </p:nvPicPr>
        <p:blipFill>
          <a:blip r:embed="rId2"/>
          <a:srcRect l="13000" t="13505" r="20014" b="13808"/>
          <a:stretch>
            <a:fillRect/>
          </a:stretch>
        </p:blipFill>
        <p:spPr>
          <a:xfrm>
            <a:off x="455295" y="1097280"/>
            <a:ext cx="6125210" cy="36569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  <p:txBody>
          <a:bodyPr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7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91430" y="233045"/>
            <a:ext cx="405193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STEP 7: FINANCIAL REQUISITION SETUP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125210" cy="3656965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097280"/>
            <a:ext cx="2218690" cy="398716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1820" y="1341755"/>
            <a:ext cx="271145" cy="294005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6" name="Text 13"/>
          <p:cNvSpPr/>
          <p:nvPr/>
        </p:nvSpPr>
        <p:spPr>
          <a:xfrm>
            <a:off x="6934200" y="1342390"/>
            <a:ext cx="267335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7</a:t>
            </a:r>
            <a:endParaRPr lang="en-US" sz="1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7560" y="1310640"/>
            <a:ext cx="199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Activating the Budget Requisition Toggle</a:t>
            </a:r>
            <a:endParaRPr lang="en-US" sz="10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1880870" cy="444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125980"/>
            <a:ext cx="203517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1. Financial Memo Toggle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407920"/>
            <a:ext cx="186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Swith to "Budget Memo" if your memo requests University funds.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3032760"/>
            <a:ext cx="201612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2. Requisition Details Card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345180"/>
            <a:ext cx="20294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Appears instantly, summarizing expense items and total calculated budget.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65620" y="4259580"/>
            <a:ext cx="2205355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4366260"/>
            <a:ext cx="2157095" cy="1638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26580" y="4511040"/>
            <a:ext cx="215011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Only activate budget requisitions for memos that involve institutional expenses.</a:t>
            </a:r>
            <a:endParaRPr lang="en-US" sz="850" dirty="0"/>
          </a:p>
        </p:txBody>
      </p:sp>
      <p:pic>
        <p:nvPicPr>
          <p:cNvPr id="13" name="Picture 12" descr="Screenshot 2026-09-03 155010"/>
          <p:cNvPicPr>
            <a:picLocks noChangeAspect="1"/>
          </p:cNvPicPr>
          <p:nvPr/>
        </p:nvPicPr>
        <p:blipFill>
          <a:blip r:embed="rId2"/>
          <a:srcRect l="19264" r="13750" b="2953"/>
          <a:stretch>
            <a:fillRect/>
          </a:stretch>
        </p:blipFill>
        <p:spPr>
          <a:xfrm>
            <a:off x="457200" y="1122680"/>
            <a:ext cx="6125210" cy="361061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  <p:txBody>
          <a:bodyPr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8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91430" y="233045"/>
            <a:ext cx="405193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STEP 8: 3-TIER BUDGET SELECTION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125210" cy="3656965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097280"/>
            <a:ext cx="2218690" cy="398716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1820" y="1341755"/>
            <a:ext cx="271145" cy="294005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6" name="Text 13"/>
          <p:cNvSpPr/>
          <p:nvPr/>
        </p:nvSpPr>
        <p:spPr>
          <a:xfrm>
            <a:off x="6934200" y="1342390"/>
            <a:ext cx="267335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</a:t>
            </a:r>
            <a:endParaRPr lang="en-US" sz="1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7560" y="1310640"/>
            <a:ext cx="199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Category → Item Class → Sub-Item Selection</a:t>
            </a:r>
            <a:endParaRPr lang="en-US" sz="10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1880870" cy="444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1927860"/>
            <a:ext cx="205803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1. Tier 1: Category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171700"/>
            <a:ext cx="186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Select main expenditure class (e.g. Advertising, Office Supplies, IT).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684145"/>
            <a:ext cx="204914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2. Tier 2: Item Group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2941320"/>
            <a:ext cx="20294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Select specific group class (e.g. Equipment Purchase, Computer Hardware).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65620" y="4259580"/>
            <a:ext cx="2205355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4366260"/>
            <a:ext cx="2171065" cy="20002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26580" y="4511040"/>
            <a:ext cx="215011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Specific sub-items guarantee accurate accounting rather than general estimations.</a:t>
            </a:r>
            <a:endParaRPr lang="en-US" sz="850" dirty="0"/>
          </a:p>
        </p:txBody>
      </p:sp>
      <p:sp>
        <p:nvSpPr>
          <p:cNvPr id="26" name="Text 18"/>
          <p:cNvSpPr/>
          <p:nvPr/>
        </p:nvSpPr>
        <p:spPr>
          <a:xfrm>
            <a:off x="7038340" y="3443605"/>
            <a:ext cx="203263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3. Tier 3: Specific Sub-Item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7038340" y="3655060"/>
            <a:ext cx="20294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Choose precise sub-item (e.g. Laptop, DSLR Camera, Sound System).</a:t>
            </a:r>
            <a:endParaRPr lang="en-US" sz="950" dirty="0"/>
          </a:p>
        </p:txBody>
      </p:sp>
      <p:pic>
        <p:nvPicPr>
          <p:cNvPr id="29" name="Picture 28" descr="Screenshot 2026-09-03 205427"/>
          <p:cNvPicPr>
            <a:picLocks noChangeAspect="1"/>
          </p:cNvPicPr>
          <p:nvPr/>
        </p:nvPicPr>
        <p:blipFill>
          <a:blip r:embed="rId2"/>
          <a:srcRect l="4451" t="102" r="5900" b="1672"/>
          <a:stretch>
            <a:fillRect/>
          </a:stretch>
        </p:blipFill>
        <p:spPr>
          <a:xfrm>
            <a:off x="457200" y="1098550"/>
            <a:ext cx="6126480" cy="36556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  <p:txBody>
          <a:bodyPr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9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91430" y="233045"/>
            <a:ext cx="405193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STEP 9: DATABASE AUTO-POPULATION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125210" cy="3656965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097280"/>
            <a:ext cx="2218690" cy="398716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1820" y="1341755"/>
            <a:ext cx="271145" cy="294005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6" name="Text 13"/>
          <p:cNvSpPr/>
          <p:nvPr/>
        </p:nvSpPr>
        <p:spPr>
          <a:xfrm>
            <a:off x="6934200" y="1342390"/>
            <a:ext cx="267335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9</a:t>
            </a:r>
            <a:endParaRPr lang="en-US" sz="1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7560" y="1310640"/>
            <a:ext cx="199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Auto-Retrieval of Description &amp; Pricing</a:t>
            </a:r>
            <a:endParaRPr lang="en-US" sz="10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1880870" cy="444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65020"/>
            <a:ext cx="210248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1. Pre-Stored Description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346960"/>
            <a:ext cx="186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Selecting an item automatically fetches its detailed specification from the database.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2966085"/>
            <a:ext cx="207391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2. Quantity &amp; Unit Price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268980"/>
            <a:ext cx="20294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System populates standard unit price and calculates line-item subtotal instantly.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65620" y="4259580"/>
            <a:ext cx="2205355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4366260"/>
            <a:ext cx="2186305" cy="19748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26580" y="4511040"/>
            <a:ext cx="215011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You can adjust quantities or unit prices if special proforma quotes apply.</a:t>
            </a:r>
            <a:endParaRPr lang="en-US" sz="850" dirty="0"/>
          </a:p>
        </p:txBody>
      </p:sp>
      <p:pic>
        <p:nvPicPr>
          <p:cNvPr id="28" name="Picture 27" descr="Screenshot 2026-09-03 2058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125845" cy="36563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  <p:txBody>
          <a:bodyPr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10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91430" y="233045"/>
            <a:ext cx="405193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STEP 10: REQUISITION REMOVAL RULES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125210" cy="3656965"/>
          </a:xfrm>
          <a:prstGeom prst="rect">
            <a:avLst/>
          </a:prstGeom>
          <a:solidFill>
            <a:srgbClr val="F8FAFC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097280"/>
            <a:ext cx="2218690" cy="398716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1820" y="1341755"/>
            <a:ext cx="271145" cy="294005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6" name="Text 13"/>
          <p:cNvSpPr/>
          <p:nvPr/>
        </p:nvSpPr>
        <p:spPr>
          <a:xfrm>
            <a:off x="6882765" y="1342390"/>
            <a:ext cx="372110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7560" y="1310640"/>
            <a:ext cx="199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Dynamic Remove &amp; Delete Buttons</a:t>
            </a:r>
            <a:endParaRPr lang="en-US" sz="10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1880870" cy="444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65020"/>
            <a:ext cx="205105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1. Clean UX on New Memos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346960"/>
            <a:ext cx="186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When starting a fresh memo, removal buttons stay hidden for clarity.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3034665"/>
            <a:ext cx="203644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2. Detaching Added Requisitions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406140"/>
            <a:ext cx="20294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Once items exist, clicking "Remove" detaches the requisition without page refresh.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65620" y="4259580"/>
            <a:ext cx="2205355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4366260"/>
            <a:ext cx="2171065" cy="24701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26580" y="4511040"/>
            <a:ext cx="215011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Detaching a requisition resets budget fields cleanly back to default.</a:t>
            </a:r>
            <a:endParaRPr lang="en-US" sz="850" dirty="0"/>
          </a:p>
        </p:txBody>
      </p:sp>
      <p:pic>
        <p:nvPicPr>
          <p:cNvPr id="26" name="Picture 25" descr="Screenshot 2026-09-03 2104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90" y="2916555"/>
            <a:ext cx="5929630" cy="1700530"/>
          </a:xfrm>
          <a:prstGeom prst="rect">
            <a:avLst/>
          </a:prstGeom>
        </p:spPr>
      </p:pic>
      <p:pic>
        <p:nvPicPr>
          <p:cNvPr id="28" name="Picture 27" descr="Screenshot 2026-09-03 205845"/>
          <p:cNvPicPr>
            <a:picLocks noChangeAspect="1"/>
          </p:cNvPicPr>
          <p:nvPr/>
        </p:nvPicPr>
        <p:blipFill>
          <a:blip r:embed="rId3"/>
          <a:srcRect l="6528" t="6230" r="8555" b="75790"/>
          <a:stretch>
            <a:fillRect/>
          </a:stretch>
        </p:blipFill>
        <p:spPr>
          <a:xfrm>
            <a:off x="633095" y="1573530"/>
            <a:ext cx="5773420" cy="7734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  <p:txBody>
          <a:bodyPr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11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91430" y="233045"/>
            <a:ext cx="405193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STEP 11: ROUTING FOR APPROVAL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6492240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 • Official Systems Operational Guide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125210" cy="3656965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097280"/>
            <a:ext cx="2218690" cy="398716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1820" y="1341755"/>
            <a:ext cx="271145" cy="294005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6" name="Text 13"/>
          <p:cNvSpPr/>
          <p:nvPr/>
        </p:nvSpPr>
        <p:spPr>
          <a:xfrm>
            <a:off x="6890385" y="1342390"/>
            <a:ext cx="372110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11</a:t>
            </a:r>
            <a:endParaRPr lang="en-US" sz="1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7560" y="1310640"/>
            <a:ext cx="199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Submitting Memos into Approval Pipeline</a:t>
            </a:r>
            <a:endParaRPr lang="en-US" sz="10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1880870" cy="444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65020"/>
            <a:ext cx="203581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1. Save Draft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346960"/>
            <a:ext cx="186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Saves your work privately. No recipient notifications are sent out.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3034665"/>
            <a:ext cx="203644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2. Route for Approval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345180"/>
            <a:ext cx="20294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Locks document and dispatches it directly to recipient review queues.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65620" y="4259580"/>
            <a:ext cx="2205355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4366260"/>
            <a:ext cx="2158365" cy="1892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26580" y="4511040"/>
            <a:ext cx="215011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Both top and bottom submit buttons are explicitly labeled "Route for Approval".</a:t>
            </a:r>
            <a:endParaRPr lang="en-US" sz="850" dirty="0"/>
          </a:p>
        </p:txBody>
      </p:sp>
      <p:pic>
        <p:nvPicPr>
          <p:cNvPr id="26" name="Picture 25" descr="Screenshot 2026-09-03 212313"/>
          <p:cNvPicPr>
            <a:picLocks noChangeAspect="1"/>
          </p:cNvPicPr>
          <p:nvPr/>
        </p:nvPicPr>
        <p:blipFill>
          <a:blip r:embed="rId2"/>
          <a:srcRect l="422" r="309"/>
          <a:stretch>
            <a:fillRect/>
          </a:stretch>
        </p:blipFill>
        <p:spPr>
          <a:xfrm>
            <a:off x="497840" y="2038985"/>
            <a:ext cx="6042660" cy="15913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</p:spPr>
        <p:txBody>
          <a:bodyPr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14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164592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COSMOPOLITAN UNIVERSITY ABUJA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1097280" y="41148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STEP 12 OF 12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91430" y="233045"/>
            <a:ext cx="405193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STEP 12: TRACKING AUDIT HISTORY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6125210" cy="3656965"/>
          </a:xfrm>
          <a:prstGeom prst="rect">
            <a:avLst/>
          </a:prstGeom>
          <a:solidFill>
            <a:srgbClr val="F8FAFC"/>
          </a:solidFill>
          <a:ln w="25400">
            <a:solidFill>
              <a:srgbClr val="1A365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0" y="1097280"/>
            <a:ext cx="2218690" cy="3987165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41820" y="1341755"/>
            <a:ext cx="271145" cy="294005"/>
          </a:xfrm>
          <a:prstGeom prst="rect">
            <a:avLst/>
          </a:prstGeom>
          <a:solidFill>
            <a:srgbClr val="1A365D"/>
          </a:solidFill>
        </p:spPr>
      </p:sp>
      <p:sp>
        <p:nvSpPr>
          <p:cNvPr id="16" name="Text 13"/>
          <p:cNvSpPr/>
          <p:nvPr/>
        </p:nvSpPr>
        <p:spPr>
          <a:xfrm>
            <a:off x="6882765" y="1342390"/>
            <a:ext cx="372110" cy="3009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12</a:t>
            </a:r>
            <a:endParaRPr lang="en-US" sz="1200" b="1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7560" y="1310640"/>
            <a:ext cx="1996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Live Progress Tracking &amp; Timeline</a:t>
            </a:r>
            <a:endParaRPr lang="en-US" sz="1000" b="1" dirty="0">
              <a:solidFill>
                <a:srgbClr val="1A365D"/>
              </a:solidFill>
              <a:latin typeface="Arial" panose="020B0604020202020204" pitchFamily="34" charset="0"/>
              <a:ea typeface="Arial" panose="020B0604020202020204" pitchFamily="34" charset="-122"/>
              <a:cs typeface="Arial" panose="020B0604020202020204" pitchFamily="34" charset="-120"/>
              <a:sym typeface="+mn-ea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7040880" y="1828800"/>
            <a:ext cx="1880870" cy="4445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40880" y="2065020"/>
            <a:ext cx="203581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1. Sent Memos Status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040880" y="2346960"/>
            <a:ext cx="18694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Check live status (Pending Review, Endorsed, Approved, Rejected) in Sent folder.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040880" y="3034665"/>
            <a:ext cx="203644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365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2. Complete Audit Trail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040880" y="3345180"/>
            <a:ext cx="20294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Records timestamped officer comments, signatures, and approval actions.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865620" y="4259580"/>
            <a:ext cx="2205355" cy="822960"/>
          </a:xfrm>
          <a:prstGeom prst="rect">
            <a:avLst/>
          </a:prstGeom>
          <a:solidFill>
            <a:srgbClr val="F0FDF4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8960" y="4366260"/>
            <a:ext cx="2167255" cy="18923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59669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PRO TIP / OPERATIONAL NOTE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926580" y="4511040"/>
            <a:ext cx="215011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65F46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Fully approved memos are archived automatically and available for Bursary disbursement.</a:t>
            </a:r>
            <a:endParaRPr lang="en-US" sz="850" dirty="0"/>
          </a:p>
        </p:txBody>
      </p:sp>
      <p:pic>
        <p:nvPicPr>
          <p:cNvPr id="26" name="Picture 25" descr="Screenshot 2026-09-03 2129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5795" y="1374140"/>
            <a:ext cx="3208020" cy="31464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"/>
          <p:cNvSpPr/>
          <p:nvPr/>
        </p:nvSpPr>
        <p:spPr>
          <a:xfrm>
            <a:off x="711835" y="505460"/>
            <a:ext cx="7889240" cy="4128770"/>
          </a:xfrm>
          <a:prstGeom prst="rect">
            <a:avLst/>
          </a:prstGeom>
          <a:solidFill>
            <a:srgbClr val="1E293B"/>
          </a:solidFill>
          <a:ln w="19050">
            <a:solidFill>
              <a:srgbClr val="D4AF37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098040" y="3032125"/>
            <a:ext cx="511746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NEED TECHNICAL OR ADMINISTRATIVE ASSISTANCE?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616960" y="3477895"/>
            <a:ext cx="214058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Contact system administrators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101975" y="3843655"/>
            <a:ext cx="31089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 IT SERVICE DEPARTMENT: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Email: hayat.suleiman@cosmopolitan.edu.ng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729105" y="4716780"/>
            <a:ext cx="568579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D4AF3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Cosmopolitan University Abuja  •  "To The Summit"</a:t>
            </a:r>
            <a:endParaRPr lang="en-US" sz="1300" dirty="0"/>
          </a:p>
        </p:txBody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6455" y="1111250"/>
            <a:ext cx="1668145" cy="1668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4290" y="1971675"/>
            <a:ext cx="47574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CUA MEMOTRACKER SYSTEM OPERATIONAL GUIDE</a:t>
            </a:r>
            <a:endParaRPr lang="en-US" sz="1000" dirty="0"/>
          </a:p>
        </p:txBody>
      </p:sp>
      <p:sp>
        <p:nvSpPr>
          <p:cNvPr id="3" name="Text 0"/>
          <p:cNvSpPr/>
          <p:nvPr/>
        </p:nvSpPr>
        <p:spPr>
          <a:xfrm>
            <a:off x="3828415" y="1372870"/>
            <a:ext cx="385000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THANK YOU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6547</Words>
  <Application>WPS Presentation</Application>
  <PresentationFormat>On-screen Show (16:9)</PresentationFormat>
  <Paragraphs>340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8" baseType="lpstr">
      <vt:lpstr>Arial</vt:lpstr>
      <vt:lpstr>SimSun</vt:lpstr>
      <vt:lpstr>Wingdings</vt:lpstr>
      <vt:lpstr>Georgia</vt:lpstr>
      <vt:lpstr>Georgia</vt:lpstr>
      <vt:lpstr>Georgia</vt:lpstr>
      <vt:lpstr>Arial</vt:lpstr>
      <vt:lpstr>Arial</vt:lpstr>
      <vt:lpstr>Calibri</vt:lpstr>
      <vt:lpstr>Microsoft YaHei</vt:lpstr>
      <vt:lpstr>Arial Unicode MS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Cosmopolitan University Abuja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MemoTracker System User Manual</dc:title>
  <dc:creator>Cosmopolitan University Abuja</dc:creator>
  <dc:subject>PptxGenJS Presentation</dc:subject>
  <cp:lastModifiedBy>Dev Sadeeq Safana</cp:lastModifiedBy>
  <cp:revision>2</cp:revision>
  <dcterms:created xsi:type="dcterms:W3CDTF">2026-09-03T11:41:00Z</dcterms:created>
  <dcterms:modified xsi:type="dcterms:W3CDTF">2026-09-03T20:30:43Z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D32807D10518471F8D1D7BA56C847319_12</vt:lpwstr>
  </property>
</Properties>
</file>