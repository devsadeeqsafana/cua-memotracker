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15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D4AF37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822960"/>
            <a:ext cx="1280160" cy="12801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94560" y="100584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COSMOPOLITAN UNIVERSITY ABUJA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2194560" y="14173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OFFICIAL SYSTEMS OPERATIONAL MANUAL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731520" y="2468880"/>
            <a:ext cx="2926080" cy="347472"/>
          </a:xfrm>
          <a:prstGeom prst="rect">
            <a:avLst/>
          </a:prstGeom>
          <a:solidFill>
            <a:srgbClr val="1E293B"/>
          </a:solidFill>
          <a:ln w="15240">
            <a:solidFill>
              <a:srgbClr val="D4AF3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31520" y="2468880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MANUAL • VERSION 2.0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731520" y="3017520"/>
            <a:ext cx="10515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MEMOTRACKER SYSTEM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PRESENTATION MANUAL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731520" y="43891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step-by-step visual presentation guide for memo creation, budget requisitions, executive approval routing, and audit tracking.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731520" y="612648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Audience: Staff, HODs, Deans, Directors &amp; Executive Management  |  Session 2025/2026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8686800" y="612648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"To The Summit"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365D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91440"/>
            <a:ext cx="594360" cy="5943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51560" y="137160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COSMOPOLITAN UNIVERSITY ABUJA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51560" y="384048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OVERVIEW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6400800" y="182880"/>
            <a:ext cx="5394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OVERVIEW &amp; WORKFLOW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0" y="6446520"/>
            <a:ext cx="9144000" cy="41148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65760" y="651052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Cosmopolitan University Abuja • Official Systems Operational Guide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8686800" y="6510528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1A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"To The Summit"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Institutional Workflow Lifecycle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132588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CUA MemoTracker System automates formal internal communications, institutional approvals, and budget requisitions.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7200" y="1783080"/>
            <a:ext cx="2606040" cy="438912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94360" y="1965960"/>
            <a:ext cx="411480" cy="411480"/>
          </a:xfrm>
          <a:prstGeom prst="rect">
            <a:avLst>
              <a:gd name="adj" fmla="val 17778"/>
            </a:avLst>
          </a:prstGeom>
          <a:solidFill>
            <a:srgbClr val="1A365D"/>
          </a:solidFill>
          <a:ln/>
        </p:spPr>
      </p:sp>
      <p:sp>
        <p:nvSpPr>
          <p:cNvPr id="14" name="Text 11"/>
          <p:cNvSpPr/>
          <p:nvPr/>
        </p:nvSpPr>
        <p:spPr>
          <a:xfrm>
            <a:off x="594360" y="19659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94360" y="251460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Compose Memo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594360" y="2971800"/>
            <a:ext cx="233172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Author enters memo subject, primary routing recipients (To, CC, BCC), rich body text, and attachments.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3291840" y="1783080"/>
            <a:ext cx="2606040" cy="438912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429000" y="1965960"/>
            <a:ext cx="411480" cy="411480"/>
          </a:xfrm>
          <a:prstGeom prst="rect">
            <a:avLst>
              <a:gd name="adj" fmla="val 17778"/>
            </a:avLst>
          </a:prstGeom>
          <a:solidFill>
            <a:srgbClr val="1A365D"/>
          </a:solidFill>
          <a:ln/>
        </p:spPr>
      </p:sp>
      <p:sp>
        <p:nvSpPr>
          <p:cNvPr id="19" name="Text 16"/>
          <p:cNvSpPr/>
          <p:nvPr/>
        </p:nvSpPr>
        <p:spPr>
          <a:xfrm>
            <a:off x="3429000" y="19659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3429000" y="251460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Attach Requisition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3429000" y="2971800"/>
            <a:ext cx="233172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requesting funds, author selects budget category and items with auto-populated database descriptions.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6126480" y="1783080"/>
            <a:ext cx="2606040" cy="438912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263640" y="1965960"/>
            <a:ext cx="411480" cy="411480"/>
          </a:xfrm>
          <a:prstGeom prst="rect">
            <a:avLst>
              <a:gd name="adj" fmla="val 17778"/>
            </a:avLst>
          </a:prstGeom>
          <a:solidFill>
            <a:srgbClr val="1A365D"/>
          </a:solidFill>
          <a:ln/>
        </p:spPr>
      </p:sp>
      <p:sp>
        <p:nvSpPr>
          <p:cNvPr id="24" name="Text 21"/>
          <p:cNvSpPr/>
          <p:nvPr/>
        </p:nvSpPr>
        <p:spPr>
          <a:xfrm>
            <a:off x="6263640" y="19659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263640" y="251460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for Approval</a:t>
            </a:r>
            <a:endParaRPr lang="en-US" sz="1150" dirty="0"/>
          </a:p>
        </p:txBody>
      </p:sp>
      <p:sp>
        <p:nvSpPr>
          <p:cNvPr id="26" name="Text 23"/>
          <p:cNvSpPr/>
          <p:nvPr/>
        </p:nvSpPr>
        <p:spPr>
          <a:xfrm>
            <a:off x="6263640" y="2971800"/>
            <a:ext cx="233172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Author dispatches document into sequential review for HODs, Deans, Bursary, and VC.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8961120" y="1783080"/>
            <a:ext cx="2606040" cy="4389120"/>
          </a:xfrm>
          <a:prstGeom prst="rect">
            <a:avLst/>
          </a:prstGeom>
          <a:solidFill>
            <a:srgbClr val="FFFFFF"/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9098280" y="1965960"/>
            <a:ext cx="411480" cy="411480"/>
          </a:xfrm>
          <a:prstGeom prst="rect">
            <a:avLst>
              <a:gd name="adj" fmla="val 17778"/>
            </a:avLst>
          </a:prstGeom>
          <a:solidFill>
            <a:srgbClr val="059669"/>
          </a:solidFill>
          <a:ln/>
        </p:spPr>
      </p:sp>
      <p:sp>
        <p:nvSpPr>
          <p:cNvPr id="29" name="Text 26"/>
          <p:cNvSpPr/>
          <p:nvPr/>
        </p:nvSpPr>
        <p:spPr>
          <a:xfrm>
            <a:off x="9098280" y="19659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9098280" y="251460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Action</a:t>
            </a:r>
            <a:endParaRPr lang="en-US" sz="1150" dirty="0"/>
          </a:p>
        </p:txBody>
      </p:sp>
      <p:sp>
        <p:nvSpPr>
          <p:cNvPr id="31" name="Text 28"/>
          <p:cNvSpPr/>
          <p:nvPr/>
        </p:nvSpPr>
        <p:spPr>
          <a:xfrm>
            <a:off x="9098280" y="2971800"/>
            <a:ext cx="233172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Reviewing officers endorse or approve. Timestamps and audit trails record every decision.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365D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91440"/>
            <a:ext cx="594360" cy="5943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51560" y="137160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COSMOPOLITAN UNIVERSITY ABUJA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51560" y="384048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 OF 12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6400800" y="182880"/>
            <a:ext cx="5394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1: PLATFORM ACCESS &amp; LOGIN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0" y="6446520"/>
            <a:ext cx="9144000" cy="41148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65760" y="651052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Cosmopolitan University Abuja • Official Systems Operational Guide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8686800" y="6510528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1A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"To The Summit"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57200" y="960120"/>
            <a:ext cx="5760720" cy="5303520"/>
          </a:xfrm>
          <a:prstGeom prst="rect">
            <a:avLst/>
          </a:prstGeom>
          <a:solidFill>
            <a:srgbClr val="F8FAFC"/>
          </a:solidFill>
          <a:ln w="19050">
            <a:solidFill>
              <a:srgbClr val="1A365D"/>
            </a:solidFill>
            <a:prstDash val="dash"/>
          </a:ln>
        </p:spPr>
      </p:sp>
      <p:sp>
        <p:nvSpPr>
          <p:cNvPr id="11" name="Shape 8"/>
          <p:cNvSpPr/>
          <p:nvPr/>
        </p:nvSpPr>
        <p:spPr>
          <a:xfrm>
            <a:off x="640080" y="1143000"/>
            <a:ext cx="5394960" cy="3200400"/>
          </a:xfrm>
          <a:prstGeom prst="rect">
            <a:avLst/>
          </a:prstGeom>
          <a:solidFill>
            <a:srgbClr val="E2E8F0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697480" y="2194560"/>
            <a:ext cx="1280160" cy="640080"/>
          </a:xfrm>
          <a:prstGeom prst="rect">
            <a:avLst>
              <a:gd name="adj" fmla="val 11429"/>
            </a:avLst>
          </a:prstGeom>
          <a:solidFill>
            <a:srgbClr val="1A365D"/>
          </a:solidFill>
          <a:ln/>
        </p:spPr>
      </p:sp>
      <p:sp>
        <p:nvSpPr>
          <p:cNvPr id="13" name="Text 10"/>
          <p:cNvSpPr/>
          <p:nvPr/>
        </p:nvSpPr>
        <p:spPr>
          <a:xfrm>
            <a:off x="2697480" y="2194560"/>
            <a:ext cx="1280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SCREENSHOT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40080" y="4434840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ATTACH SCREENSHOT HERE ]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754880"/>
            <a:ext cx="5394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Attach Screenshot of the CUA MemoTracker Login Screen showing Email &amp; Password fields.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640080" y="5897880"/>
            <a:ext cx="5394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Recommended Ratio: 16:9 Widescreen (e.g. 1920 x 1080 px)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6400800" y="960120"/>
            <a:ext cx="5303520" cy="5303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583680" y="1097280"/>
            <a:ext cx="411480" cy="411480"/>
          </a:xfrm>
          <a:prstGeom prst="rect">
            <a:avLst>
              <a:gd name="adj" fmla="val 17778"/>
            </a:avLst>
          </a:prstGeom>
          <a:solidFill>
            <a:srgbClr val="1A365D"/>
          </a:solidFill>
          <a:ln/>
        </p:spPr>
      </p:sp>
      <p:sp>
        <p:nvSpPr>
          <p:cNvPr id="19" name="Text 16"/>
          <p:cNvSpPr/>
          <p:nvPr/>
        </p:nvSpPr>
        <p:spPr>
          <a:xfrm>
            <a:off x="6583680" y="109728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7086600" y="1097280"/>
            <a:ext cx="4434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Authentication &amp; Role Access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6583680" y="1600200"/>
            <a:ext cx="4937760" cy="0"/>
          </a:xfrm>
          <a:prstGeom prst="line">
            <a:avLst/>
          </a:prstGeom>
          <a:noFill/>
          <a:ln w="19050">
            <a:solidFill>
              <a:srgbClr val="059669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583680" y="1719072"/>
            <a:ext cx="4937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Access Credentials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6583680" y="1947672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 your official University staff email address and security password on the login portal.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6583680" y="2496312"/>
            <a:ext cx="4937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Role Authorization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6583680" y="2724912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Permissions (HOD, Dean, Director of Finance, Vice-Chancellor) are automatically assigned based on your account.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6583680" y="4892040"/>
            <a:ext cx="4937760" cy="1188720"/>
          </a:xfrm>
          <a:prstGeom prst="rect">
            <a:avLst/>
          </a:prstGeom>
          <a:solidFill>
            <a:srgbClr val="F0FDF4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720840" y="4956048"/>
            <a:ext cx="4663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TIP / OPERATIONAL NOTE</a:t>
            </a:r>
            <a:endParaRPr lang="en-US" sz="750" dirty="0"/>
          </a:p>
        </p:txBody>
      </p:sp>
      <p:sp>
        <p:nvSpPr>
          <p:cNvPr id="28" name="Text 25"/>
          <p:cNvSpPr/>
          <p:nvPr/>
        </p:nvSpPr>
        <p:spPr>
          <a:xfrm>
            <a:off x="6720840" y="5166360"/>
            <a:ext cx="4663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Always ensure you log out when using shared workstations to preserve university data security.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365D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91440"/>
            <a:ext cx="594360" cy="5943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51560" y="137160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COSMOPOLITAN UNIVERSITY ABUJA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51560" y="384048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 OF 12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6400800" y="182880"/>
            <a:ext cx="5394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2: DASHBOARD NAVIGATION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0" y="6446520"/>
            <a:ext cx="9144000" cy="41148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65760" y="651052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Cosmopolitan University Abuja • Official Systems Operational Guide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8686800" y="6510528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1A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"To The Summit"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57200" y="960120"/>
            <a:ext cx="5760720" cy="5303520"/>
          </a:xfrm>
          <a:prstGeom prst="rect">
            <a:avLst/>
          </a:prstGeom>
          <a:solidFill>
            <a:srgbClr val="F8FAFC"/>
          </a:solidFill>
          <a:ln w="19050">
            <a:solidFill>
              <a:srgbClr val="1A365D"/>
            </a:solidFill>
            <a:prstDash val="dash"/>
          </a:ln>
        </p:spPr>
      </p:sp>
      <p:sp>
        <p:nvSpPr>
          <p:cNvPr id="11" name="Shape 8"/>
          <p:cNvSpPr/>
          <p:nvPr/>
        </p:nvSpPr>
        <p:spPr>
          <a:xfrm>
            <a:off x="640080" y="1143000"/>
            <a:ext cx="5394960" cy="3200400"/>
          </a:xfrm>
          <a:prstGeom prst="rect">
            <a:avLst/>
          </a:prstGeom>
          <a:solidFill>
            <a:srgbClr val="E2E8F0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697480" y="2194560"/>
            <a:ext cx="1280160" cy="640080"/>
          </a:xfrm>
          <a:prstGeom prst="rect">
            <a:avLst>
              <a:gd name="adj" fmla="val 11429"/>
            </a:avLst>
          </a:prstGeom>
          <a:solidFill>
            <a:srgbClr val="1A365D"/>
          </a:solidFill>
          <a:ln/>
        </p:spPr>
      </p:sp>
      <p:sp>
        <p:nvSpPr>
          <p:cNvPr id="13" name="Text 10"/>
          <p:cNvSpPr/>
          <p:nvPr/>
        </p:nvSpPr>
        <p:spPr>
          <a:xfrm>
            <a:off x="2697480" y="2194560"/>
            <a:ext cx="1280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SCREENSHOT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40080" y="4434840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ATTACH SCREENSHOT HERE ]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754880"/>
            <a:ext cx="5394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Attach Screenshot of the Main Dashboard highlighting Sidebar Folders (Inbox, Sent, Drafts, Archived).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640080" y="5897880"/>
            <a:ext cx="5394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Recommended Ratio: 16:9 Widescreen (e.g. 1920 x 1080 px)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6400800" y="960120"/>
            <a:ext cx="5303520" cy="5303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583680" y="1097280"/>
            <a:ext cx="411480" cy="411480"/>
          </a:xfrm>
          <a:prstGeom prst="rect">
            <a:avLst>
              <a:gd name="adj" fmla="val 17778"/>
            </a:avLst>
          </a:prstGeom>
          <a:solidFill>
            <a:srgbClr val="1A365D"/>
          </a:solidFill>
          <a:ln/>
        </p:spPr>
      </p:sp>
      <p:sp>
        <p:nvSpPr>
          <p:cNvPr id="19" name="Text 16"/>
          <p:cNvSpPr/>
          <p:nvPr/>
        </p:nvSpPr>
        <p:spPr>
          <a:xfrm>
            <a:off x="6583680" y="109728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7086600" y="1097280"/>
            <a:ext cx="4434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Workspace Folders &amp; Navigation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6583680" y="1600200"/>
            <a:ext cx="4937760" cy="0"/>
          </a:xfrm>
          <a:prstGeom prst="line">
            <a:avLst/>
          </a:prstGeom>
          <a:noFill/>
          <a:ln w="19050">
            <a:solidFill>
              <a:srgbClr val="059669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583680" y="1719072"/>
            <a:ext cx="4937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Action Needed / Inbox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6583680" y="1947672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Displays incoming memos routed to your desk for review, endorsement, or executive approval.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6583680" y="2496312"/>
            <a:ext cx="4937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Sent Memos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6583680" y="2724912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Contains memos initiated by you that are active in recipient approval pipelines.</a:t>
            </a:r>
            <a:endParaRPr lang="en-US" sz="850" dirty="0"/>
          </a:p>
        </p:txBody>
      </p:sp>
      <p:sp>
        <p:nvSpPr>
          <p:cNvPr id="26" name="Text 23"/>
          <p:cNvSpPr/>
          <p:nvPr/>
        </p:nvSpPr>
        <p:spPr>
          <a:xfrm>
            <a:off x="6583680" y="3273552"/>
            <a:ext cx="4937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Drafts Folder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6583680" y="3502152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Stores unsubmitted memos saved for future editing before routing.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6583680" y="4892040"/>
            <a:ext cx="4937760" cy="1188720"/>
          </a:xfrm>
          <a:prstGeom prst="rect">
            <a:avLst/>
          </a:prstGeom>
          <a:solidFill>
            <a:srgbClr val="F0FDF4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720840" y="4956048"/>
            <a:ext cx="4663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TIP / OPERATIONAL NOTE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6720840" y="5166360"/>
            <a:ext cx="4663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the notification badges next to Inbox to view urgent items requiring your review.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365D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91440"/>
            <a:ext cx="594360" cy="5943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51560" y="137160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COSMOPOLITAN UNIVERSITY ABUJA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51560" y="384048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 OF 12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6400800" y="182880"/>
            <a:ext cx="5394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3: INITIATING A NEW MEMO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0" y="6446520"/>
            <a:ext cx="9144000" cy="41148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65760" y="651052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Cosmopolitan University Abuja • Official Systems Operational Guide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8686800" y="6510528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1A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"To The Summit"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57200" y="960120"/>
            <a:ext cx="5760720" cy="5303520"/>
          </a:xfrm>
          <a:prstGeom prst="rect">
            <a:avLst/>
          </a:prstGeom>
          <a:solidFill>
            <a:srgbClr val="F8FAFC"/>
          </a:solidFill>
          <a:ln w="19050">
            <a:solidFill>
              <a:srgbClr val="1A365D"/>
            </a:solidFill>
            <a:prstDash val="dash"/>
          </a:ln>
        </p:spPr>
      </p:sp>
      <p:sp>
        <p:nvSpPr>
          <p:cNvPr id="11" name="Shape 8"/>
          <p:cNvSpPr/>
          <p:nvPr/>
        </p:nvSpPr>
        <p:spPr>
          <a:xfrm>
            <a:off x="640080" y="1143000"/>
            <a:ext cx="5394960" cy="3200400"/>
          </a:xfrm>
          <a:prstGeom prst="rect">
            <a:avLst/>
          </a:prstGeom>
          <a:solidFill>
            <a:srgbClr val="E2E8F0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697480" y="2194560"/>
            <a:ext cx="1280160" cy="640080"/>
          </a:xfrm>
          <a:prstGeom prst="rect">
            <a:avLst>
              <a:gd name="adj" fmla="val 11429"/>
            </a:avLst>
          </a:prstGeom>
          <a:solidFill>
            <a:srgbClr val="1A365D"/>
          </a:solidFill>
          <a:ln/>
        </p:spPr>
      </p:sp>
      <p:sp>
        <p:nvSpPr>
          <p:cNvPr id="13" name="Text 10"/>
          <p:cNvSpPr/>
          <p:nvPr/>
        </p:nvSpPr>
        <p:spPr>
          <a:xfrm>
            <a:off x="2697480" y="2194560"/>
            <a:ext cx="1280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SCREENSHOT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40080" y="4434840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ATTACH SCREENSHOT HERE ]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754880"/>
            <a:ext cx="5394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Attach Screenshot of the Memo Creation Header showing Subject Line, Department, and Category dropdowns.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640080" y="5897880"/>
            <a:ext cx="5394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Recommended Ratio: 16:9 Widescreen (e.g. 1920 x 1080 px)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6400800" y="960120"/>
            <a:ext cx="5303520" cy="5303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583680" y="1097280"/>
            <a:ext cx="411480" cy="411480"/>
          </a:xfrm>
          <a:prstGeom prst="rect">
            <a:avLst>
              <a:gd name="adj" fmla="val 17778"/>
            </a:avLst>
          </a:prstGeom>
          <a:solidFill>
            <a:srgbClr val="1A365D"/>
          </a:solidFill>
          <a:ln/>
        </p:spPr>
      </p:sp>
      <p:sp>
        <p:nvSpPr>
          <p:cNvPr id="19" name="Text 16"/>
          <p:cNvSpPr/>
          <p:nvPr/>
        </p:nvSpPr>
        <p:spPr>
          <a:xfrm>
            <a:off x="6583680" y="109728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7086600" y="1097280"/>
            <a:ext cx="4434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Subject Title &amp; Department Selection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6583680" y="1600200"/>
            <a:ext cx="4937760" cy="0"/>
          </a:xfrm>
          <a:prstGeom prst="line">
            <a:avLst/>
          </a:prstGeom>
          <a:noFill/>
          <a:ln w="19050">
            <a:solidFill>
              <a:srgbClr val="059669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583680" y="1719072"/>
            <a:ext cx="4937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+ New Memo Button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6583680" y="1947672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the "+ New Memo" button on the sidebar to launch the compose editor.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6583680" y="2496312"/>
            <a:ext cx="4937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Subject Title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6583680" y="2724912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 a clear, concise subject line (e.g. REQUISITION FOR LAB EQUIPMENT).</a:t>
            </a:r>
            <a:endParaRPr lang="en-US" sz="850" dirty="0"/>
          </a:p>
        </p:txBody>
      </p:sp>
      <p:sp>
        <p:nvSpPr>
          <p:cNvPr id="26" name="Text 23"/>
          <p:cNvSpPr/>
          <p:nvPr/>
        </p:nvSpPr>
        <p:spPr>
          <a:xfrm>
            <a:off x="6583680" y="3273552"/>
            <a:ext cx="4937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Department &amp; Category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6583680" y="3502152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 your originating department and academic/administrative classification.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6583680" y="4892040"/>
            <a:ext cx="4937760" cy="1188720"/>
          </a:xfrm>
          <a:prstGeom prst="rect">
            <a:avLst/>
          </a:prstGeom>
          <a:solidFill>
            <a:srgbClr val="F0FDF4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720840" y="4956048"/>
            <a:ext cx="4663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TIP / OPERATIONAL NOTE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6720840" y="5166360"/>
            <a:ext cx="4663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Subject titles should clearly define the memo purpose for reviewing officers.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365D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91440"/>
            <a:ext cx="594360" cy="5943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51560" y="137160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COSMOPOLITAN UNIVERSITY ABUJA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51560" y="384048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4 OF 12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6400800" y="182880"/>
            <a:ext cx="5394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4: PRIORITY &amp; EXPIRY DATES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0" y="6446520"/>
            <a:ext cx="9144000" cy="41148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65760" y="651052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Cosmopolitan University Abuja • Official Systems Operational Guide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8686800" y="6510528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1A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"To The Summit"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57200" y="960120"/>
            <a:ext cx="5760720" cy="5303520"/>
          </a:xfrm>
          <a:prstGeom prst="rect">
            <a:avLst/>
          </a:prstGeom>
          <a:solidFill>
            <a:srgbClr val="F8FAFC"/>
          </a:solidFill>
          <a:ln w="19050">
            <a:solidFill>
              <a:srgbClr val="1A365D"/>
            </a:solidFill>
            <a:prstDash val="dash"/>
          </a:ln>
        </p:spPr>
      </p:sp>
      <p:sp>
        <p:nvSpPr>
          <p:cNvPr id="11" name="Shape 8"/>
          <p:cNvSpPr/>
          <p:nvPr/>
        </p:nvSpPr>
        <p:spPr>
          <a:xfrm>
            <a:off x="640080" y="1143000"/>
            <a:ext cx="5394960" cy="3200400"/>
          </a:xfrm>
          <a:prstGeom prst="rect">
            <a:avLst/>
          </a:prstGeom>
          <a:solidFill>
            <a:srgbClr val="E2E8F0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697480" y="2194560"/>
            <a:ext cx="1280160" cy="640080"/>
          </a:xfrm>
          <a:prstGeom prst="rect">
            <a:avLst>
              <a:gd name="adj" fmla="val 11429"/>
            </a:avLst>
          </a:prstGeom>
          <a:solidFill>
            <a:srgbClr val="1A365D"/>
          </a:solidFill>
          <a:ln/>
        </p:spPr>
      </p:sp>
      <p:sp>
        <p:nvSpPr>
          <p:cNvPr id="13" name="Text 10"/>
          <p:cNvSpPr/>
          <p:nvPr/>
        </p:nvSpPr>
        <p:spPr>
          <a:xfrm>
            <a:off x="2697480" y="2194560"/>
            <a:ext cx="1280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SCREENSHOT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40080" y="4434840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ATTACH SCREENSHOT HERE ]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754880"/>
            <a:ext cx="5394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Attach Screenshot of the Priority Selector (Low, Medium, High) and Expiry Date Field.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640080" y="5897880"/>
            <a:ext cx="5394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Recommended Ratio: 16:9 Widescreen (e.g. 1920 x 1080 px)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6400800" y="960120"/>
            <a:ext cx="5303520" cy="5303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583680" y="1097280"/>
            <a:ext cx="411480" cy="411480"/>
          </a:xfrm>
          <a:prstGeom prst="rect">
            <a:avLst>
              <a:gd name="adj" fmla="val 17778"/>
            </a:avLst>
          </a:prstGeom>
          <a:solidFill>
            <a:srgbClr val="1A365D"/>
          </a:solidFill>
          <a:ln/>
        </p:spPr>
      </p:sp>
      <p:sp>
        <p:nvSpPr>
          <p:cNvPr id="19" name="Text 16"/>
          <p:cNvSpPr/>
          <p:nvPr/>
        </p:nvSpPr>
        <p:spPr>
          <a:xfrm>
            <a:off x="6583680" y="109728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7086600" y="1097280"/>
            <a:ext cx="4434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Setting Urgency &amp; Expiration Flags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6583680" y="1600200"/>
            <a:ext cx="4937760" cy="0"/>
          </a:xfrm>
          <a:prstGeom prst="line">
            <a:avLst/>
          </a:prstGeom>
          <a:noFill/>
          <a:ln w="19050">
            <a:solidFill>
              <a:srgbClr val="059669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583680" y="1719072"/>
            <a:ext cx="4937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Priority Levels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6583680" y="1947672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 priority level (Low, Medium, High) to signal turnaround urgency to reviewers.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6583680" y="2496312"/>
            <a:ext cx="4937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Optional Expiry Date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6583680" y="2724912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an explicit expiry date for time-sensitive requests requiring fast action.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6583680" y="4892040"/>
            <a:ext cx="4937760" cy="1188720"/>
          </a:xfrm>
          <a:prstGeom prst="rect">
            <a:avLst/>
          </a:prstGeom>
          <a:solidFill>
            <a:srgbClr val="F0FDF4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720840" y="4956048"/>
            <a:ext cx="4663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TIP / OPERATIONAL NOTE</a:t>
            </a:r>
            <a:endParaRPr lang="en-US" sz="750" dirty="0"/>
          </a:p>
        </p:txBody>
      </p:sp>
      <p:sp>
        <p:nvSpPr>
          <p:cNvPr id="28" name="Text 25"/>
          <p:cNvSpPr/>
          <p:nvPr/>
        </p:nvSpPr>
        <p:spPr>
          <a:xfrm>
            <a:off x="6720840" y="5166360"/>
            <a:ext cx="4663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priority memos display prominent badges on reviewer dashboards for expedited action.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365D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91440"/>
            <a:ext cx="594360" cy="5943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51560" y="137160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COSMOPOLITAN UNIVERSITY ABUJA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51560" y="384048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5 OF 12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6400800" y="182880"/>
            <a:ext cx="5394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5: RECIPIENT ROUTING SETUP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0" y="6446520"/>
            <a:ext cx="9144000" cy="41148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65760" y="651052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Cosmopolitan University Abuja • Official Systems Operational Guide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8686800" y="6510528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1A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"To The Summit"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57200" y="960120"/>
            <a:ext cx="5760720" cy="5303520"/>
          </a:xfrm>
          <a:prstGeom prst="rect">
            <a:avLst/>
          </a:prstGeom>
          <a:solidFill>
            <a:srgbClr val="F8FAFC"/>
          </a:solidFill>
          <a:ln w="19050">
            <a:solidFill>
              <a:srgbClr val="1A365D"/>
            </a:solidFill>
            <a:prstDash val="dash"/>
          </a:ln>
        </p:spPr>
      </p:sp>
      <p:sp>
        <p:nvSpPr>
          <p:cNvPr id="11" name="Shape 8"/>
          <p:cNvSpPr/>
          <p:nvPr/>
        </p:nvSpPr>
        <p:spPr>
          <a:xfrm>
            <a:off x="640080" y="1143000"/>
            <a:ext cx="5394960" cy="3200400"/>
          </a:xfrm>
          <a:prstGeom prst="rect">
            <a:avLst/>
          </a:prstGeom>
          <a:solidFill>
            <a:srgbClr val="E2E8F0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697480" y="2194560"/>
            <a:ext cx="1280160" cy="640080"/>
          </a:xfrm>
          <a:prstGeom prst="rect">
            <a:avLst>
              <a:gd name="adj" fmla="val 11429"/>
            </a:avLst>
          </a:prstGeom>
          <a:solidFill>
            <a:srgbClr val="1A365D"/>
          </a:solidFill>
          <a:ln/>
        </p:spPr>
      </p:sp>
      <p:sp>
        <p:nvSpPr>
          <p:cNvPr id="13" name="Text 10"/>
          <p:cNvSpPr/>
          <p:nvPr/>
        </p:nvSpPr>
        <p:spPr>
          <a:xfrm>
            <a:off x="2697480" y="2194560"/>
            <a:ext cx="1280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SCREENSHOT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40080" y="4434840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ATTACH SCREENSHOT HERE ]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754880"/>
            <a:ext cx="5394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Attach Screenshot of Recipient Selection Cards for TO, CC, and BCC recipient lists.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640080" y="5897880"/>
            <a:ext cx="5394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Recommended Ratio: 16:9 Widescreen (e.g. 1920 x 1080 px)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6400800" y="960120"/>
            <a:ext cx="5303520" cy="5303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583680" y="1097280"/>
            <a:ext cx="411480" cy="411480"/>
          </a:xfrm>
          <a:prstGeom prst="rect">
            <a:avLst>
              <a:gd name="adj" fmla="val 17778"/>
            </a:avLst>
          </a:prstGeom>
          <a:solidFill>
            <a:srgbClr val="1A365D"/>
          </a:solidFill>
          <a:ln/>
        </p:spPr>
      </p:sp>
      <p:sp>
        <p:nvSpPr>
          <p:cNvPr id="19" name="Text 16"/>
          <p:cNvSpPr/>
          <p:nvPr/>
        </p:nvSpPr>
        <p:spPr>
          <a:xfrm>
            <a:off x="6583680" y="109728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7086600" y="1097280"/>
            <a:ext cx="4434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Configuring Approval Officers (To, CC, BCC)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6583680" y="1600200"/>
            <a:ext cx="4937760" cy="0"/>
          </a:xfrm>
          <a:prstGeom prst="line">
            <a:avLst/>
          </a:prstGeom>
          <a:noFill/>
          <a:ln w="19050">
            <a:solidFill>
              <a:srgbClr val="059669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583680" y="1719072"/>
            <a:ext cx="4937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TO (Primary Approvers)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6583680" y="1947672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 officers responsible for reviewing, endorsing, or approving the memo.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6583680" y="2496312"/>
            <a:ext cx="4937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CC (Informational Copies)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6583680" y="2724912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officers who must remain informed without requiring direct action.</a:t>
            </a:r>
            <a:endParaRPr lang="en-US" sz="850" dirty="0"/>
          </a:p>
        </p:txBody>
      </p:sp>
      <p:sp>
        <p:nvSpPr>
          <p:cNvPr id="26" name="Text 23"/>
          <p:cNvSpPr/>
          <p:nvPr/>
        </p:nvSpPr>
        <p:spPr>
          <a:xfrm>
            <a:off x="6583680" y="3273552"/>
            <a:ext cx="4937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BCC (Confidential Copy)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6583680" y="3502152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confidential oversight officers when necessary.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6583680" y="4892040"/>
            <a:ext cx="4937760" cy="1188720"/>
          </a:xfrm>
          <a:prstGeom prst="rect">
            <a:avLst/>
          </a:prstGeom>
          <a:solidFill>
            <a:srgbClr val="F0FDF4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720840" y="4956048"/>
            <a:ext cx="4663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TIP / OPERATIONAL NOTE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6720840" y="5166360"/>
            <a:ext cx="4663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Ensure primary approving officers (HOD/Dean) are selected under TO in correct sequence.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365D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91440"/>
            <a:ext cx="594360" cy="5943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51560" y="137160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COSMOPOLITAN UNIVERSITY ABUJA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51560" y="384048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6 OF 12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6400800" y="182880"/>
            <a:ext cx="5394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6: RICH TEXT &amp; ATTACHMENTS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0" y="6446520"/>
            <a:ext cx="9144000" cy="41148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65760" y="651052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Cosmopolitan University Abuja • Official Systems Operational Guide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8686800" y="6510528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1A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"To The Summit"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57200" y="960120"/>
            <a:ext cx="5760720" cy="5303520"/>
          </a:xfrm>
          <a:prstGeom prst="rect">
            <a:avLst/>
          </a:prstGeom>
          <a:solidFill>
            <a:srgbClr val="F8FAFC"/>
          </a:solidFill>
          <a:ln w="19050">
            <a:solidFill>
              <a:srgbClr val="1A365D"/>
            </a:solidFill>
            <a:prstDash val="dash"/>
          </a:ln>
        </p:spPr>
      </p:sp>
      <p:sp>
        <p:nvSpPr>
          <p:cNvPr id="11" name="Shape 8"/>
          <p:cNvSpPr/>
          <p:nvPr/>
        </p:nvSpPr>
        <p:spPr>
          <a:xfrm>
            <a:off x="640080" y="1143000"/>
            <a:ext cx="5394960" cy="3200400"/>
          </a:xfrm>
          <a:prstGeom prst="rect">
            <a:avLst/>
          </a:prstGeom>
          <a:solidFill>
            <a:srgbClr val="E2E8F0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697480" y="2194560"/>
            <a:ext cx="1280160" cy="640080"/>
          </a:xfrm>
          <a:prstGeom prst="rect">
            <a:avLst>
              <a:gd name="adj" fmla="val 11429"/>
            </a:avLst>
          </a:prstGeom>
          <a:solidFill>
            <a:srgbClr val="1A365D"/>
          </a:solidFill>
          <a:ln/>
        </p:spPr>
      </p:sp>
      <p:sp>
        <p:nvSpPr>
          <p:cNvPr id="13" name="Text 10"/>
          <p:cNvSpPr/>
          <p:nvPr/>
        </p:nvSpPr>
        <p:spPr>
          <a:xfrm>
            <a:off x="2697480" y="2194560"/>
            <a:ext cx="1280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SCREENSHOT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40080" y="4434840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ATTACH SCREENSHOT HERE ]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754880"/>
            <a:ext cx="5394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Attach Screenshot of the Rich Text Editor Toolbar and Bottom File Attachment Bar.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640080" y="5897880"/>
            <a:ext cx="5394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Recommended Ratio: 16:9 Widescreen (e.g. 1920 x 1080 px)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6400800" y="960120"/>
            <a:ext cx="5303520" cy="5303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583680" y="1097280"/>
            <a:ext cx="411480" cy="411480"/>
          </a:xfrm>
          <a:prstGeom prst="rect">
            <a:avLst>
              <a:gd name="adj" fmla="val 17778"/>
            </a:avLst>
          </a:prstGeom>
          <a:solidFill>
            <a:srgbClr val="1A365D"/>
          </a:solidFill>
          <a:ln/>
        </p:spPr>
      </p:sp>
      <p:sp>
        <p:nvSpPr>
          <p:cNvPr id="19" name="Text 16"/>
          <p:cNvSpPr/>
          <p:nvPr/>
        </p:nvSpPr>
        <p:spPr>
          <a:xfrm>
            <a:off x="6583680" y="109728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7086600" y="1097280"/>
            <a:ext cx="4434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Formatting Body Text &amp; Supporting Docs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6583680" y="1600200"/>
            <a:ext cx="4937760" cy="0"/>
          </a:xfrm>
          <a:prstGeom prst="line">
            <a:avLst/>
          </a:prstGeom>
          <a:noFill/>
          <a:ln w="19050">
            <a:solidFill>
              <a:srgbClr val="059669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583680" y="1719072"/>
            <a:ext cx="4937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Rich Text Formatting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6583680" y="1947672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bolding, bullet points, numbered lists, and headers to structure text.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6583680" y="2496312"/>
            <a:ext cx="4937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Supporting Attachments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6583680" y="2724912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"Attach" on the bottom toolbar to upload proforma invoices or PDF documents.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6583680" y="4892040"/>
            <a:ext cx="4937760" cy="1188720"/>
          </a:xfrm>
          <a:prstGeom prst="rect">
            <a:avLst/>
          </a:prstGeom>
          <a:solidFill>
            <a:srgbClr val="F0FDF4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720840" y="4956048"/>
            <a:ext cx="4663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TIP / OPERATIONAL NOTE</a:t>
            </a:r>
            <a:endParaRPr lang="en-US" sz="750" dirty="0"/>
          </a:p>
        </p:txBody>
      </p:sp>
      <p:sp>
        <p:nvSpPr>
          <p:cNvPr id="28" name="Text 25"/>
          <p:cNvSpPr/>
          <p:nvPr/>
        </p:nvSpPr>
        <p:spPr>
          <a:xfrm>
            <a:off x="6720840" y="5166360"/>
            <a:ext cx="4663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Attach all external vendor quotes or proposals as supporting PDF files for Bursary verification.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365D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91440"/>
            <a:ext cx="594360" cy="5943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51560" y="137160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COSMOPOLITAN UNIVERSITY ABUJA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51560" y="384048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7 OF 12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6400800" y="182880"/>
            <a:ext cx="5394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7: FINANCIAL REQUISITION SETUP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0" y="6446520"/>
            <a:ext cx="9144000" cy="41148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65760" y="651052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Cosmopolitan University Abuja • Official Systems Operational Guide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8686800" y="6510528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1A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"To The Summit"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57200" y="960120"/>
            <a:ext cx="5760720" cy="5303520"/>
          </a:xfrm>
          <a:prstGeom prst="rect">
            <a:avLst/>
          </a:prstGeom>
          <a:solidFill>
            <a:srgbClr val="F8FAFC"/>
          </a:solidFill>
          <a:ln w="19050">
            <a:solidFill>
              <a:srgbClr val="1A365D"/>
            </a:solidFill>
            <a:prstDash val="dash"/>
          </a:ln>
        </p:spPr>
      </p:sp>
      <p:sp>
        <p:nvSpPr>
          <p:cNvPr id="11" name="Shape 8"/>
          <p:cNvSpPr/>
          <p:nvPr/>
        </p:nvSpPr>
        <p:spPr>
          <a:xfrm>
            <a:off x="640080" y="1143000"/>
            <a:ext cx="5394960" cy="3200400"/>
          </a:xfrm>
          <a:prstGeom prst="rect">
            <a:avLst/>
          </a:prstGeom>
          <a:solidFill>
            <a:srgbClr val="E2E8F0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697480" y="2194560"/>
            <a:ext cx="1280160" cy="640080"/>
          </a:xfrm>
          <a:prstGeom prst="rect">
            <a:avLst>
              <a:gd name="adj" fmla="val 11429"/>
            </a:avLst>
          </a:prstGeom>
          <a:solidFill>
            <a:srgbClr val="1A365D"/>
          </a:solidFill>
          <a:ln/>
        </p:spPr>
      </p:sp>
      <p:sp>
        <p:nvSpPr>
          <p:cNvPr id="13" name="Text 10"/>
          <p:cNvSpPr/>
          <p:nvPr/>
        </p:nvSpPr>
        <p:spPr>
          <a:xfrm>
            <a:off x="2697480" y="2194560"/>
            <a:ext cx="1280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SCREENSHOT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40080" y="4434840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ATTACH SCREENSHOT HERE ]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754880"/>
            <a:ext cx="5394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Attach Screenshot of the "Attach Financial Requisition" Card Toggle on the Memo Form.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640080" y="5897880"/>
            <a:ext cx="5394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Recommended Ratio: 16:9 Widescreen (e.g. 1920 x 1080 px)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6400800" y="960120"/>
            <a:ext cx="5303520" cy="5303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583680" y="1097280"/>
            <a:ext cx="411480" cy="411480"/>
          </a:xfrm>
          <a:prstGeom prst="rect">
            <a:avLst>
              <a:gd name="adj" fmla="val 17778"/>
            </a:avLst>
          </a:prstGeom>
          <a:solidFill>
            <a:srgbClr val="1A365D"/>
          </a:solidFill>
          <a:ln/>
        </p:spPr>
      </p:sp>
      <p:sp>
        <p:nvSpPr>
          <p:cNvPr id="19" name="Text 16"/>
          <p:cNvSpPr/>
          <p:nvPr/>
        </p:nvSpPr>
        <p:spPr>
          <a:xfrm>
            <a:off x="6583680" y="109728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7086600" y="1097280"/>
            <a:ext cx="4434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Activating the Budget Requisition Switch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6583680" y="1600200"/>
            <a:ext cx="4937760" cy="0"/>
          </a:xfrm>
          <a:prstGeom prst="line">
            <a:avLst/>
          </a:prstGeom>
          <a:noFill/>
          <a:ln w="19050">
            <a:solidFill>
              <a:srgbClr val="059669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583680" y="1719072"/>
            <a:ext cx="4937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Financial Memo Toggle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6583680" y="1947672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Toggle "Attach Financial Requisition" to ON if your memo requests University funds.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6583680" y="2496312"/>
            <a:ext cx="4937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Requisition Summary Card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6583680" y="2724912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Appears instantly, summarizing expense items and total calculated budget.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6583680" y="4892040"/>
            <a:ext cx="4937760" cy="1188720"/>
          </a:xfrm>
          <a:prstGeom prst="rect">
            <a:avLst/>
          </a:prstGeom>
          <a:solidFill>
            <a:srgbClr val="F0FDF4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720840" y="4956048"/>
            <a:ext cx="4663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TIP / OPERATIONAL NOTE</a:t>
            </a:r>
            <a:endParaRPr lang="en-US" sz="750" dirty="0"/>
          </a:p>
        </p:txBody>
      </p:sp>
      <p:sp>
        <p:nvSpPr>
          <p:cNvPr id="28" name="Text 25"/>
          <p:cNvSpPr/>
          <p:nvPr/>
        </p:nvSpPr>
        <p:spPr>
          <a:xfrm>
            <a:off x="6720840" y="5166360"/>
            <a:ext cx="4663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activate budget requisitions for memos that involve institutional expenses.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365D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91440"/>
            <a:ext cx="594360" cy="5943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51560" y="137160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COSMOPOLITAN UNIVERSITY ABUJA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51560" y="384048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8 OF 12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6400800" y="182880"/>
            <a:ext cx="5394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8: 2-STEP BUDGET SELECTION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0" y="6446520"/>
            <a:ext cx="9144000" cy="41148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65760" y="651052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Cosmopolitan University Abuja • Official Systems Operational Guide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8686800" y="6510528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1A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"To The Summit"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57200" y="960120"/>
            <a:ext cx="5760720" cy="5303520"/>
          </a:xfrm>
          <a:prstGeom prst="rect">
            <a:avLst/>
          </a:prstGeom>
          <a:solidFill>
            <a:srgbClr val="F8FAFC"/>
          </a:solidFill>
          <a:ln w="19050">
            <a:solidFill>
              <a:srgbClr val="1A365D"/>
            </a:solidFill>
            <a:prstDash val="dash"/>
          </a:ln>
        </p:spPr>
      </p:sp>
      <p:sp>
        <p:nvSpPr>
          <p:cNvPr id="11" name="Shape 8"/>
          <p:cNvSpPr/>
          <p:nvPr/>
        </p:nvSpPr>
        <p:spPr>
          <a:xfrm>
            <a:off x="640080" y="1143000"/>
            <a:ext cx="5394960" cy="3200400"/>
          </a:xfrm>
          <a:prstGeom prst="rect">
            <a:avLst/>
          </a:prstGeom>
          <a:solidFill>
            <a:srgbClr val="E2E8F0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697480" y="2194560"/>
            <a:ext cx="1280160" cy="640080"/>
          </a:xfrm>
          <a:prstGeom prst="rect">
            <a:avLst>
              <a:gd name="adj" fmla="val 11429"/>
            </a:avLst>
          </a:prstGeom>
          <a:solidFill>
            <a:srgbClr val="1A365D"/>
          </a:solidFill>
          <a:ln/>
        </p:spPr>
      </p:sp>
      <p:sp>
        <p:nvSpPr>
          <p:cNvPr id="13" name="Text 10"/>
          <p:cNvSpPr/>
          <p:nvPr/>
        </p:nvSpPr>
        <p:spPr>
          <a:xfrm>
            <a:off x="2697480" y="2194560"/>
            <a:ext cx="1280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SCREENSHOT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40080" y="4434840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ATTACH SCREENSHOT HERE ]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754880"/>
            <a:ext cx="5394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Attach Screenshot of the Requisition Modal showing Category dropdown and Item selection dropdown.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640080" y="5897880"/>
            <a:ext cx="5394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Recommended Ratio: 16:9 Widescreen (e.g. 1920 x 1080 px)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6400800" y="960120"/>
            <a:ext cx="5303520" cy="5303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583680" y="1097280"/>
            <a:ext cx="411480" cy="411480"/>
          </a:xfrm>
          <a:prstGeom prst="rect">
            <a:avLst>
              <a:gd name="adj" fmla="val 17778"/>
            </a:avLst>
          </a:prstGeom>
          <a:solidFill>
            <a:srgbClr val="1A365D"/>
          </a:solidFill>
          <a:ln/>
        </p:spPr>
      </p:sp>
      <p:sp>
        <p:nvSpPr>
          <p:cNvPr id="19" name="Text 16"/>
          <p:cNvSpPr/>
          <p:nvPr/>
        </p:nvSpPr>
        <p:spPr>
          <a:xfrm>
            <a:off x="6583680" y="109728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7086600" y="1097280"/>
            <a:ext cx="4434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Category → Budget Item Selection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6583680" y="1600200"/>
            <a:ext cx="4937760" cy="0"/>
          </a:xfrm>
          <a:prstGeom prst="line">
            <a:avLst/>
          </a:prstGeom>
          <a:noFill/>
          <a:ln w="19050">
            <a:solidFill>
              <a:srgbClr val="059669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583680" y="1719072"/>
            <a:ext cx="4937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Step 1: Budget Category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6583680" y="1947672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 main expenditure category (e.g. Advertising, Office Supplies, IT &amp; Electronics).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6583680" y="2496312"/>
            <a:ext cx="4937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Step 2: Budget Item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6583680" y="2724912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precise budget item registered in the database under that category.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6583680" y="4892040"/>
            <a:ext cx="4937760" cy="1188720"/>
          </a:xfrm>
          <a:prstGeom prst="rect">
            <a:avLst/>
          </a:prstGeom>
          <a:solidFill>
            <a:srgbClr val="F0FDF4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720840" y="4956048"/>
            <a:ext cx="4663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TIP / OPERATIONAL NOTE</a:t>
            </a:r>
            <a:endParaRPr lang="en-US" sz="750" dirty="0"/>
          </a:p>
        </p:txBody>
      </p:sp>
      <p:sp>
        <p:nvSpPr>
          <p:cNvPr id="28" name="Text 25"/>
          <p:cNvSpPr/>
          <p:nvPr/>
        </p:nvSpPr>
        <p:spPr>
          <a:xfrm>
            <a:off x="6720840" y="5166360"/>
            <a:ext cx="4663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Selecting from registered budget items ensures full compliance with university financial codes.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365D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91440"/>
            <a:ext cx="594360" cy="5943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51560" y="137160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COSMOPOLITAN UNIVERSITY ABUJA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51560" y="384048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9 OF 12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6400800" y="182880"/>
            <a:ext cx="5394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9: READ-ONLY PRICES &amp; DESCRIPTIONS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0" y="6446520"/>
            <a:ext cx="9144000" cy="41148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65760" y="651052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Cosmopolitan University Abuja • Official Systems Operational Guide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8686800" y="6510528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1A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"To The Summit"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57200" y="960120"/>
            <a:ext cx="5760720" cy="5303520"/>
          </a:xfrm>
          <a:prstGeom prst="rect">
            <a:avLst/>
          </a:prstGeom>
          <a:solidFill>
            <a:srgbClr val="F8FAFC"/>
          </a:solidFill>
          <a:ln w="19050">
            <a:solidFill>
              <a:srgbClr val="1A365D"/>
            </a:solidFill>
            <a:prstDash val="dash"/>
          </a:ln>
        </p:spPr>
      </p:sp>
      <p:sp>
        <p:nvSpPr>
          <p:cNvPr id="11" name="Shape 8"/>
          <p:cNvSpPr/>
          <p:nvPr/>
        </p:nvSpPr>
        <p:spPr>
          <a:xfrm>
            <a:off x="640080" y="1143000"/>
            <a:ext cx="5394960" cy="3200400"/>
          </a:xfrm>
          <a:prstGeom prst="rect">
            <a:avLst/>
          </a:prstGeom>
          <a:solidFill>
            <a:srgbClr val="E2E8F0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697480" y="2194560"/>
            <a:ext cx="1280160" cy="640080"/>
          </a:xfrm>
          <a:prstGeom prst="rect">
            <a:avLst>
              <a:gd name="adj" fmla="val 11429"/>
            </a:avLst>
          </a:prstGeom>
          <a:solidFill>
            <a:srgbClr val="1A365D"/>
          </a:solidFill>
          <a:ln/>
        </p:spPr>
      </p:sp>
      <p:sp>
        <p:nvSpPr>
          <p:cNvPr id="13" name="Text 10"/>
          <p:cNvSpPr/>
          <p:nvPr/>
        </p:nvSpPr>
        <p:spPr>
          <a:xfrm>
            <a:off x="2697480" y="2194560"/>
            <a:ext cx="1280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SCREENSHOT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40080" y="4434840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ATTACH SCREENSHOT HERE ]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754880"/>
            <a:ext cx="5394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Attach Screenshot of an Item Row showing Auto-Filled Description, Read-Only Unit Price, and Quantity.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640080" y="5897880"/>
            <a:ext cx="5394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Recommended Ratio: 16:9 Widescreen (e.g. 1920 x 1080 px)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6400800" y="960120"/>
            <a:ext cx="5303520" cy="5303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583680" y="1097280"/>
            <a:ext cx="411480" cy="411480"/>
          </a:xfrm>
          <a:prstGeom prst="rect">
            <a:avLst>
              <a:gd name="adj" fmla="val 17778"/>
            </a:avLst>
          </a:prstGeom>
          <a:solidFill>
            <a:srgbClr val="1A365D"/>
          </a:solidFill>
          <a:ln/>
        </p:spPr>
      </p:sp>
      <p:sp>
        <p:nvSpPr>
          <p:cNvPr id="19" name="Text 16"/>
          <p:cNvSpPr/>
          <p:nvPr/>
        </p:nvSpPr>
        <p:spPr>
          <a:xfrm>
            <a:off x="6583680" y="109728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7086600" y="1097280"/>
            <a:ext cx="4434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Auto-Retrieval of Description &amp; Price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6583680" y="1600200"/>
            <a:ext cx="4937760" cy="0"/>
          </a:xfrm>
          <a:prstGeom prst="line">
            <a:avLst/>
          </a:prstGeom>
          <a:noFill/>
          <a:ln w="19050">
            <a:solidFill>
              <a:srgbClr val="059669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583680" y="1719072"/>
            <a:ext cx="4937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Pre-Stored Description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6583680" y="1947672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Selecting an item automatically fetches its detailed specification from the database.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6583680" y="2496312"/>
            <a:ext cx="4937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Read-Only Unit Price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6583680" y="2724912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price is fetched directly from database budget tables and locked from manual editing.</a:t>
            </a:r>
            <a:endParaRPr lang="en-US" sz="850" dirty="0"/>
          </a:p>
        </p:txBody>
      </p:sp>
      <p:sp>
        <p:nvSpPr>
          <p:cNvPr id="26" name="Text 23"/>
          <p:cNvSpPr/>
          <p:nvPr/>
        </p:nvSpPr>
        <p:spPr>
          <a:xfrm>
            <a:off x="6583680" y="3273552"/>
            <a:ext cx="4937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Quantity Entry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6583680" y="3502152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Author specifies Quantity. Sub-Total and Grand Total calculate automatically.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6583680" y="4892040"/>
            <a:ext cx="4937760" cy="1188720"/>
          </a:xfrm>
          <a:prstGeom prst="rect">
            <a:avLst/>
          </a:prstGeom>
          <a:solidFill>
            <a:srgbClr val="F0FDF4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720840" y="4956048"/>
            <a:ext cx="4663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TIP / OPERATIONAL NOTE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6720840" y="5166360"/>
            <a:ext cx="4663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Predefined budget unit prices prevent price tampering and ensure bursary audit compliance.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365D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91440"/>
            <a:ext cx="594360" cy="5943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51560" y="137160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COSMOPOLITAN UNIVERSITY ABUJA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51560" y="384048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10 OF 12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6400800" y="182880"/>
            <a:ext cx="5394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10: REQUISITION REMOVAL RULES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0" y="6446520"/>
            <a:ext cx="9144000" cy="41148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65760" y="651052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Cosmopolitan University Abuja • Official Systems Operational Guide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8686800" y="6510528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1A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"To The Summit"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57200" y="960120"/>
            <a:ext cx="5760720" cy="5303520"/>
          </a:xfrm>
          <a:prstGeom prst="rect">
            <a:avLst/>
          </a:prstGeom>
          <a:solidFill>
            <a:srgbClr val="F8FAFC"/>
          </a:solidFill>
          <a:ln w="19050">
            <a:solidFill>
              <a:srgbClr val="1A365D"/>
            </a:solidFill>
            <a:prstDash val="dash"/>
          </a:ln>
        </p:spPr>
      </p:sp>
      <p:sp>
        <p:nvSpPr>
          <p:cNvPr id="11" name="Shape 8"/>
          <p:cNvSpPr/>
          <p:nvPr/>
        </p:nvSpPr>
        <p:spPr>
          <a:xfrm>
            <a:off x="640080" y="1143000"/>
            <a:ext cx="5394960" cy="3200400"/>
          </a:xfrm>
          <a:prstGeom prst="rect">
            <a:avLst/>
          </a:prstGeom>
          <a:solidFill>
            <a:srgbClr val="E2E8F0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697480" y="2194560"/>
            <a:ext cx="1280160" cy="640080"/>
          </a:xfrm>
          <a:prstGeom prst="rect">
            <a:avLst>
              <a:gd name="adj" fmla="val 11429"/>
            </a:avLst>
          </a:prstGeom>
          <a:solidFill>
            <a:srgbClr val="1A365D"/>
          </a:solidFill>
          <a:ln/>
        </p:spPr>
      </p:sp>
      <p:sp>
        <p:nvSpPr>
          <p:cNvPr id="13" name="Text 10"/>
          <p:cNvSpPr/>
          <p:nvPr/>
        </p:nvSpPr>
        <p:spPr>
          <a:xfrm>
            <a:off x="2697480" y="2194560"/>
            <a:ext cx="1280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SCREENSHOT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40080" y="4434840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ATTACH SCREENSHOT HERE ]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754880"/>
            <a:ext cx="5394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Attach Screenshot showing the red "Remove" button on card and "Delete Requisition" button in modal header.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640080" y="5897880"/>
            <a:ext cx="5394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Recommended Ratio: 16:9 Widescreen (e.g. 1920 x 1080 px)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6400800" y="960120"/>
            <a:ext cx="5303520" cy="5303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583680" y="1097280"/>
            <a:ext cx="411480" cy="411480"/>
          </a:xfrm>
          <a:prstGeom prst="rect">
            <a:avLst>
              <a:gd name="adj" fmla="val 17778"/>
            </a:avLst>
          </a:prstGeom>
          <a:solidFill>
            <a:srgbClr val="1A365D"/>
          </a:solidFill>
          <a:ln/>
        </p:spPr>
      </p:sp>
      <p:sp>
        <p:nvSpPr>
          <p:cNvPr id="19" name="Text 16"/>
          <p:cNvSpPr/>
          <p:nvPr/>
        </p:nvSpPr>
        <p:spPr>
          <a:xfrm>
            <a:off x="6583680" y="109728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7086600" y="1097280"/>
            <a:ext cx="4434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Conditional Remove &amp; Delete Buttons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6583680" y="1600200"/>
            <a:ext cx="4937760" cy="0"/>
          </a:xfrm>
          <a:prstGeom prst="line">
            <a:avLst/>
          </a:prstGeom>
          <a:noFill/>
          <a:ln w="19050">
            <a:solidFill>
              <a:srgbClr val="059669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583680" y="1719072"/>
            <a:ext cx="4937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Clean UX on New Memos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6583680" y="1947672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starting a fresh memo, removal buttons stay hidden until items are added.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6583680" y="2496312"/>
            <a:ext cx="4937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Detaching Added Requisitions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6583680" y="2724912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Once items exist, clicking "Remove" detaches the requisition without refreshing the form.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6583680" y="4892040"/>
            <a:ext cx="4937760" cy="1188720"/>
          </a:xfrm>
          <a:prstGeom prst="rect">
            <a:avLst/>
          </a:prstGeom>
          <a:solidFill>
            <a:srgbClr val="F0FDF4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720840" y="4956048"/>
            <a:ext cx="4663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TIP / OPERATIONAL NOTE</a:t>
            </a:r>
            <a:endParaRPr lang="en-US" sz="750" dirty="0"/>
          </a:p>
        </p:txBody>
      </p:sp>
      <p:sp>
        <p:nvSpPr>
          <p:cNvPr id="28" name="Text 25"/>
          <p:cNvSpPr/>
          <p:nvPr/>
        </p:nvSpPr>
        <p:spPr>
          <a:xfrm>
            <a:off x="6720840" y="5166360"/>
            <a:ext cx="4663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Detaching a requisition resets budget fields cleanly back to default.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365D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91440"/>
            <a:ext cx="594360" cy="5943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51560" y="137160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COSMOPOLITAN UNIVERSITY ABUJA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51560" y="384048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11 OF 12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6400800" y="182880"/>
            <a:ext cx="5394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11: ROUTING FOR APPROVAL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0" y="6446520"/>
            <a:ext cx="9144000" cy="41148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65760" y="651052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Cosmopolitan University Abuja • Official Systems Operational Guide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8686800" y="6510528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1A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"To The Summit"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57200" y="960120"/>
            <a:ext cx="5760720" cy="5303520"/>
          </a:xfrm>
          <a:prstGeom prst="rect">
            <a:avLst/>
          </a:prstGeom>
          <a:solidFill>
            <a:srgbClr val="F8FAFC"/>
          </a:solidFill>
          <a:ln w="19050">
            <a:solidFill>
              <a:srgbClr val="1A365D"/>
            </a:solidFill>
            <a:prstDash val="dash"/>
          </a:ln>
        </p:spPr>
      </p:sp>
      <p:sp>
        <p:nvSpPr>
          <p:cNvPr id="11" name="Shape 8"/>
          <p:cNvSpPr/>
          <p:nvPr/>
        </p:nvSpPr>
        <p:spPr>
          <a:xfrm>
            <a:off x="640080" y="1143000"/>
            <a:ext cx="5394960" cy="3200400"/>
          </a:xfrm>
          <a:prstGeom prst="rect">
            <a:avLst/>
          </a:prstGeom>
          <a:solidFill>
            <a:srgbClr val="E2E8F0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697480" y="2194560"/>
            <a:ext cx="1280160" cy="640080"/>
          </a:xfrm>
          <a:prstGeom prst="rect">
            <a:avLst>
              <a:gd name="adj" fmla="val 11429"/>
            </a:avLst>
          </a:prstGeom>
          <a:solidFill>
            <a:srgbClr val="1A365D"/>
          </a:solidFill>
          <a:ln/>
        </p:spPr>
      </p:sp>
      <p:sp>
        <p:nvSpPr>
          <p:cNvPr id="13" name="Text 10"/>
          <p:cNvSpPr/>
          <p:nvPr/>
        </p:nvSpPr>
        <p:spPr>
          <a:xfrm>
            <a:off x="2697480" y="2194560"/>
            <a:ext cx="1280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SCREENSHOT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40080" y="4434840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ATTACH SCREENSHOT HERE ]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754880"/>
            <a:ext cx="5394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Attach Screenshot highlighting the "Route for Approval" Action Button on top and bottom toolbars.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640080" y="5897880"/>
            <a:ext cx="5394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Recommended Ratio: 16:9 Widescreen (e.g. 1920 x 1080 px)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6400800" y="960120"/>
            <a:ext cx="5303520" cy="5303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583680" y="1097280"/>
            <a:ext cx="411480" cy="411480"/>
          </a:xfrm>
          <a:prstGeom prst="rect">
            <a:avLst>
              <a:gd name="adj" fmla="val 17778"/>
            </a:avLst>
          </a:prstGeom>
          <a:solidFill>
            <a:srgbClr val="1A365D"/>
          </a:solidFill>
          <a:ln/>
        </p:spPr>
      </p:sp>
      <p:sp>
        <p:nvSpPr>
          <p:cNvPr id="19" name="Text 16"/>
          <p:cNvSpPr/>
          <p:nvPr/>
        </p:nvSpPr>
        <p:spPr>
          <a:xfrm>
            <a:off x="6583680" y="109728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7086600" y="1097280"/>
            <a:ext cx="4434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Submitting Memos into Approval Pipeline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6583680" y="1600200"/>
            <a:ext cx="4937760" cy="0"/>
          </a:xfrm>
          <a:prstGeom prst="line">
            <a:avLst/>
          </a:prstGeom>
          <a:noFill/>
          <a:ln w="19050">
            <a:solidFill>
              <a:srgbClr val="059669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583680" y="1719072"/>
            <a:ext cx="4937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Save Draft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6583680" y="1947672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Saves your work privately. No recipient notifications are sent out.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6583680" y="2496312"/>
            <a:ext cx="4937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Route for Approval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6583680" y="2724912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Locks document and dispatches it directly to recipient review queues.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6583680" y="4892040"/>
            <a:ext cx="4937760" cy="1188720"/>
          </a:xfrm>
          <a:prstGeom prst="rect">
            <a:avLst/>
          </a:prstGeom>
          <a:solidFill>
            <a:srgbClr val="F0FDF4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720840" y="4956048"/>
            <a:ext cx="4663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TIP / OPERATIONAL NOTE</a:t>
            </a:r>
            <a:endParaRPr lang="en-US" sz="750" dirty="0"/>
          </a:p>
        </p:txBody>
      </p:sp>
      <p:sp>
        <p:nvSpPr>
          <p:cNvPr id="28" name="Text 25"/>
          <p:cNvSpPr/>
          <p:nvPr/>
        </p:nvSpPr>
        <p:spPr>
          <a:xfrm>
            <a:off x="6720840" y="5166360"/>
            <a:ext cx="4663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top and bottom submit buttons are explicitly labeled "Route for Approval" for consistency.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365D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91440"/>
            <a:ext cx="594360" cy="5943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51560" y="137160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COSMOPOLITAN UNIVERSITY ABUJA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51560" y="384048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12 OF 12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6400800" y="182880"/>
            <a:ext cx="5394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12: TRACKING AUDIT HISTORY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0" y="6446520"/>
            <a:ext cx="9144000" cy="41148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65760" y="651052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Cosmopolitan University Abuja • Official Systems Operational Guide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8686800" y="6510528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1A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"To The Summit"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57200" y="960120"/>
            <a:ext cx="5760720" cy="5303520"/>
          </a:xfrm>
          <a:prstGeom prst="rect">
            <a:avLst/>
          </a:prstGeom>
          <a:solidFill>
            <a:srgbClr val="F8FAFC"/>
          </a:solidFill>
          <a:ln w="19050">
            <a:solidFill>
              <a:srgbClr val="1A365D"/>
            </a:solidFill>
            <a:prstDash val="dash"/>
          </a:ln>
        </p:spPr>
      </p:sp>
      <p:sp>
        <p:nvSpPr>
          <p:cNvPr id="11" name="Shape 8"/>
          <p:cNvSpPr/>
          <p:nvPr/>
        </p:nvSpPr>
        <p:spPr>
          <a:xfrm>
            <a:off x="640080" y="1143000"/>
            <a:ext cx="5394960" cy="3200400"/>
          </a:xfrm>
          <a:prstGeom prst="rect">
            <a:avLst/>
          </a:prstGeom>
          <a:solidFill>
            <a:srgbClr val="E2E8F0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697480" y="2194560"/>
            <a:ext cx="1280160" cy="640080"/>
          </a:xfrm>
          <a:prstGeom prst="rect">
            <a:avLst>
              <a:gd name="adj" fmla="val 11429"/>
            </a:avLst>
          </a:prstGeom>
          <a:solidFill>
            <a:srgbClr val="1A365D"/>
          </a:solidFill>
          <a:ln/>
        </p:spPr>
      </p:sp>
      <p:sp>
        <p:nvSpPr>
          <p:cNvPr id="13" name="Text 10"/>
          <p:cNvSpPr/>
          <p:nvPr/>
        </p:nvSpPr>
        <p:spPr>
          <a:xfrm>
            <a:off x="2697480" y="2194560"/>
            <a:ext cx="1280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SCREENSHOT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40080" y="4434840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ATTACH SCREENSHOT HERE ]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754880"/>
            <a:ext cx="5394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Attach Screenshot of Sent Memo Details showing Review Timeline, Endorsements, and Comments.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640080" y="5897880"/>
            <a:ext cx="5394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Recommended Ratio: 16:9 Widescreen (e.g. 1920 x 1080 px)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6400800" y="960120"/>
            <a:ext cx="5303520" cy="5303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583680" y="1097280"/>
            <a:ext cx="411480" cy="411480"/>
          </a:xfrm>
          <a:prstGeom prst="rect">
            <a:avLst>
              <a:gd name="adj" fmla="val 17778"/>
            </a:avLst>
          </a:prstGeom>
          <a:solidFill>
            <a:srgbClr val="1A365D"/>
          </a:solidFill>
          <a:ln/>
        </p:spPr>
      </p:sp>
      <p:sp>
        <p:nvSpPr>
          <p:cNvPr id="19" name="Text 16"/>
          <p:cNvSpPr/>
          <p:nvPr/>
        </p:nvSpPr>
        <p:spPr>
          <a:xfrm>
            <a:off x="6583680" y="109728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7086600" y="1097280"/>
            <a:ext cx="4434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Progress Tracking &amp; Timeline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6583680" y="1600200"/>
            <a:ext cx="4937760" cy="0"/>
          </a:xfrm>
          <a:prstGeom prst="line">
            <a:avLst/>
          </a:prstGeom>
          <a:noFill/>
          <a:ln w="19050">
            <a:solidFill>
              <a:srgbClr val="059669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583680" y="1719072"/>
            <a:ext cx="4937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Sent Memos Status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6583680" y="1947672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live status (Pending Review, Endorsed, Approved) in your Sent folder.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6583680" y="2496312"/>
            <a:ext cx="4937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Complete Audit Trail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6583680" y="2724912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 timestamped officer comments, signatures, and approval actions.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6583680" y="4892040"/>
            <a:ext cx="4937760" cy="1188720"/>
          </a:xfrm>
          <a:prstGeom prst="rect">
            <a:avLst/>
          </a:prstGeom>
          <a:solidFill>
            <a:srgbClr val="F0FDF4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720840" y="4956048"/>
            <a:ext cx="4663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TIP / OPERATIONAL NOTE</a:t>
            </a:r>
            <a:endParaRPr lang="en-US" sz="750" dirty="0"/>
          </a:p>
        </p:txBody>
      </p:sp>
      <p:sp>
        <p:nvSpPr>
          <p:cNvPr id="28" name="Text 25"/>
          <p:cNvSpPr/>
          <p:nvPr/>
        </p:nvSpPr>
        <p:spPr>
          <a:xfrm>
            <a:off x="6720840" y="5166360"/>
            <a:ext cx="4663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Fully approved memos are archived automatically and available for Bursary disbursement.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715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822960"/>
            <a:ext cx="1097280" cy="10972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194560" y="10058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2194560" y="14173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 MEMOTRACKER SYSTEM OPERATIONAL GUIDE</a:t>
            </a:r>
            <a:endParaRPr lang="en-US" sz="950" dirty="0"/>
          </a:p>
        </p:txBody>
      </p:sp>
      <p:sp>
        <p:nvSpPr>
          <p:cNvPr id="5" name="Shape 2"/>
          <p:cNvSpPr/>
          <p:nvPr/>
        </p:nvSpPr>
        <p:spPr>
          <a:xfrm>
            <a:off x="914400" y="2011680"/>
            <a:ext cx="10332720" cy="3840480"/>
          </a:xfrm>
          <a:prstGeom prst="rect">
            <a:avLst/>
          </a:prstGeom>
          <a:solidFill>
            <a:srgbClr val="1E293B"/>
          </a:solidFill>
          <a:ln w="19050">
            <a:solidFill>
              <a:srgbClr val="D4AF37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188720" y="2286000"/>
            <a:ext cx="9784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 TECHNICAL OR ADMINISTRATIVE ASSISTANCE?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1188720" y="2697480"/>
            <a:ext cx="9784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portal login support, role updates, or budget item additions, contact system administrators: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1188720" y="32918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Directorate of ICT &amp; Software Systems: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Email: portal-support@cosmopolitan.edu.ng | Extension: 401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88720" y="411480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Bursary &amp; Financial Control Operations: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Email: bursary-budget@cosmopolitan.edu.ng | Extension: 205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914400" y="612648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Cosmopolitan University Abuja  •  "To The Summit"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Cosmopolitan University Abuja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MemoTracker System User Manual</dc:title>
  <dc:subject>PptxGenJS Presentation</dc:subject>
  <dc:creator>Cosmopolitan University Abuja</dc:creator>
  <cp:lastModifiedBy>Cosmopolitan University Abuja</cp:lastModifiedBy>
  <cp:revision>1</cp:revision>
  <dcterms:created xsi:type="dcterms:W3CDTF">2026-09-03T12:59:37Z</dcterms:created>
  <dcterms:modified xsi:type="dcterms:W3CDTF">2026-09-03T12:59:37Z</dcterms:modified>
</cp:coreProperties>
</file>